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9144000" cy="16256000"/>
  <p:embeddedFontLst>
    <p:embeddedFont>
      <p:font typeface="Liter" panose="020B0604020202020204" charset="0"/>
      <p:regular r:id="rId14"/>
    </p:embeddedFont>
    <p:embeddedFont>
      <p:font typeface="Quattrocento Sans" panose="020B0502050000020003" pitchFamily="34" charset="0"/>
      <p:regular r:id="rId15"/>
      <p:bold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30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jain35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jainsandeep729.wixsite.com/website/about-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0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778000" y="2540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kern="0" spc="8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413000" y="3810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Operating System for Placements, Alumni &amp; Institutional Engagement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0" y="4572000"/>
            <a:ext cx="2540000" cy="0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588000" y="5080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kern="0" spc="4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PRE-SEED ROUND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53000" y="5842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8A8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Founder: Sandeep Jain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8128000"/>
            <a:ext cx="1016000" cy="381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2000" y="825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3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3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50800" cy="4572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5200" y="9906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Education Engagement is Broken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7874000" cy="552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lnSpc>
                <a:spcPct val="165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Placement processes are fragmented across spreadsheets, emails, and legacy tools</a:t>
            </a:r>
            <a:endParaRPr lang="en-US" sz="2000" dirty="0"/>
          </a:p>
          <a:p>
            <a:pPr marL="317500" indent="-317500">
              <a:lnSpc>
                <a:spcPct val="165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Alumni networks remain underutilized — institutions lose touch with graduates within 2 years</a:t>
            </a:r>
            <a:endParaRPr lang="en-US" sz="2000" dirty="0"/>
          </a:p>
          <a:p>
            <a:pPr marL="317500" indent="-317500">
              <a:lnSpc>
                <a:spcPct val="165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Recruiters struggle to identify and reach suitable candidates efficiently</a:t>
            </a:r>
            <a:endParaRPr lang="en-US" sz="2000" dirty="0"/>
          </a:p>
          <a:p>
            <a:pPr marL="317500" indent="-317500">
              <a:lnSpc>
                <a:spcPct val="165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Institutions manage critical placement workflows manually, creating bottlenecks</a:t>
            </a:r>
            <a:endParaRPr lang="en-US" sz="2000" dirty="0"/>
          </a:p>
          <a:p>
            <a:pPr marL="317500" indent="-317500">
              <a:lnSpc>
                <a:spcPct val="165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Students face limited transparency into opportunities, timelines, and outcomes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7569200"/>
            <a:ext cx="7874000" cy="11684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6000" y="7620000"/>
            <a:ext cx="7366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10M+</a:t>
            </a: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graduates produced annually in India — yet placement coordination remains largely analog</a:t>
            </a:r>
            <a:endParaRPr lang="en-US" sz="1600" dirty="0"/>
          </a:p>
        </p:txBody>
      </p:sp>
      <p:pic>
        <p:nvPicPr>
          <p:cNvPr id="8" name="Image 0" descr="https://kimi-img.moonshot.cn/pub/slides/okc/zo2wsqpu2hhaq/mnt/agents/output/placementhub/images/2_5_935_Aerial_View_College_Campus.png"/>
          <p:cNvPicPr>
            <a:picLocks noChangeAspect="1"/>
          </p:cNvPicPr>
          <p:nvPr/>
        </p:nvPicPr>
        <p:blipFill>
          <a:blip r:embed="rId3"/>
          <a:srcRect l="17105" r="17105"/>
          <a:stretch/>
        </p:blipFill>
        <p:spPr>
          <a:xfrm>
            <a:off x="9144000" y="1016000"/>
            <a:ext cx="6350000" cy="7239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0" y="1016000"/>
            <a:ext cx="6350000" cy="7239000"/>
          </a:xfrm>
          <a:prstGeom prst="rect">
            <a:avLst/>
          </a:prstGeom>
          <a:gradFill flip="none" rotWithShape="1">
            <a:gsLst>
              <a:gs pos="0">
                <a:srgbClr val="F5F0EB"/>
              </a:gs>
              <a:gs pos="25000">
                <a:srgbClr val="F5F0EB">
                  <a:alpha val="0"/>
                </a:srgbClr>
              </a:gs>
              <a:gs pos="100000">
                <a:srgbClr val="F5F0EB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4859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3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50800" cy="4572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5200" y="9906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Platform. Four Stakeholders.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3429000" cy="30480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7750" y="22225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239415" y="-12898"/>
                </a:moveTo>
                <a:cubicBezTo>
                  <a:pt x="228104" y="-15180"/>
                  <a:pt x="216495" y="-15180"/>
                  <a:pt x="205184" y="-12898"/>
                </a:cubicBezTo>
                <a:lnTo>
                  <a:pt x="19149" y="24309"/>
                </a:lnTo>
                <a:cubicBezTo>
                  <a:pt x="8037" y="26491"/>
                  <a:pt x="0" y="36314"/>
                  <a:pt x="0" y="47625"/>
                </a:cubicBezTo>
                <a:cubicBezTo>
                  <a:pt x="0" y="57845"/>
                  <a:pt x="6449" y="66774"/>
                  <a:pt x="15875" y="70048"/>
                </a:cubicBezTo>
                <a:lnTo>
                  <a:pt x="15875" y="142875"/>
                </a:lnTo>
                <a:lnTo>
                  <a:pt x="298" y="220861"/>
                </a:lnTo>
                <a:cubicBezTo>
                  <a:pt x="99" y="221754"/>
                  <a:pt x="0" y="222746"/>
                  <a:pt x="0" y="223738"/>
                </a:cubicBezTo>
                <a:cubicBezTo>
                  <a:pt x="0" y="231676"/>
                  <a:pt x="6449" y="238224"/>
                  <a:pt x="14486" y="238224"/>
                </a:cubicBezTo>
                <a:lnTo>
                  <a:pt x="49113" y="238224"/>
                </a:lnTo>
                <a:cubicBezTo>
                  <a:pt x="57051" y="238224"/>
                  <a:pt x="63599" y="231775"/>
                  <a:pt x="63599" y="223738"/>
                </a:cubicBezTo>
                <a:cubicBezTo>
                  <a:pt x="63599" y="222746"/>
                  <a:pt x="63500" y="221853"/>
                  <a:pt x="63302" y="220861"/>
                </a:cubicBezTo>
                <a:lnTo>
                  <a:pt x="47625" y="142875"/>
                </a:lnTo>
                <a:lnTo>
                  <a:pt x="47625" y="76696"/>
                </a:lnTo>
                <a:lnTo>
                  <a:pt x="95250" y="86221"/>
                </a:lnTo>
                <a:lnTo>
                  <a:pt x="95250" y="142875"/>
                </a:lnTo>
                <a:cubicBezTo>
                  <a:pt x="95250" y="213023"/>
                  <a:pt x="152102" y="269875"/>
                  <a:pt x="222250" y="269875"/>
                </a:cubicBezTo>
                <a:cubicBezTo>
                  <a:pt x="292398" y="269875"/>
                  <a:pt x="349250" y="213023"/>
                  <a:pt x="349250" y="142875"/>
                </a:cubicBezTo>
                <a:lnTo>
                  <a:pt x="349250" y="86221"/>
                </a:lnTo>
                <a:lnTo>
                  <a:pt x="425351" y="71041"/>
                </a:lnTo>
                <a:cubicBezTo>
                  <a:pt x="436463" y="68759"/>
                  <a:pt x="444500" y="58936"/>
                  <a:pt x="444500" y="47625"/>
                </a:cubicBezTo>
                <a:cubicBezTo>
                  <a:pt x="444500" y="36314"/>
                  <a:pt x="436463" y="26491"/>
                  <a:pt x="425351" y="24309"/>
                </a:cubicBezTo>
                <a:lnTo>
                  <a:pt x="239415" y="-12898"/>
                </a:lnTo>
                <a:close/>
                <a:moveTo>
                  <a:pt x="222250" y="222250"/>
                </a:moveTo>
                <a:cubicBezTo>
                  <a:pt x="178395" y="222250"/>
                  <a:pt x="142875" y="186730"/>
                  <a:pt x="142875" y="142875"/>
                </a:cubicBezTo>
                <a:lnTo>
                  <a:pt x="301625" y="142875"/>
                </a:lnTo>
                <a:cubicBezTo>
                  <a:pt x="301625" y="186730"/>
                  <a:pt x="266105" y="222250"/>
                  <a:pt x="222250" y="222250"/>
                </a:cubicBezTo>
                <a:close/>
                <a:moveTo>
                  <a:pt x="119162" y="317599"/>
                </a:moveTo>
                <a:cubicBezTo>
                  <a:pt x="58241" y="345579"/>
                  <a:pt x="15875" y="407095"/>
                  <a:pt x="15875" y="478532"/>
                </a:cubicBezTo>
                <a:cubicBezTo>
                  <a:pt x="15875" y="494804"/>
                  <a:pt x="29071" y="508000"/>
                  <a:pt x="45343" y="508000"/>
                </a:cubicBezTo>
                <a:lnTo>
                  <a:pt x="198438" y="508000"/>
                </a:lnTo>
                <a:lnTo>
                  <a:pt x="198438" y="363141"/>
                </a:lnTo>
                <a:lnTo>
                  <a:pt x="141486" y="320477"/>
                </a:lnTo>
                <a:cubicBezTo>
                  <a:pt x="135037" y="315615"/>
                  <a:pt x="126405" y="314325"/>
                  <a:pt x="119063" y="317698"/>
                </a:cubicBezTo>
                <a:close/>
                <a:moveTo>
                  <a:pt x="246063" y="508000"/>
                </a:moveTo>
                <a:lnTo>
                  <a:pt x="399157" y="508000"/>
                </a:lnTo>
                <a:cubicBezTo>
                  <a:pt x="415429" y="508000"/>
                  <a:pt x="428625" y="494804"/>
                  <a:pt x="428625" y="478532"/>
                </a:cubicBezTo>
                <a:cubicBezTo>
                  <a:pt x="428625" y="407095"/>
                  <a:pt x="386259" y="345579"/>
                  <a:pt x="325338" y="317698"/>
                </a:cubicBezTo>
                <a:cubicBezTo>
                  <a:pt x="317996" y="314325"/>
                  <a:pt x="309364" y="315615"/>
                  <a:pt x="302915" y="320477"/>
                </a:cubicBezTo>
                <a:lnTo>
                  <a:pt x="245963" y="363141"/>
                </a:lnTo>
                <a:lnTo>
                  <a:pt x="245963" y="508000"/>
                </a:ln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6000" y="29210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34290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Apply, track, and manage placements with full transparency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1200" y="1968500"/>
            <a:ext cx="3429000" cy="30480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38700" y="22225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63500" y="0"/>
                </a:moveTo>
                <a:cubicBezTo>
                  <a:pt x="28476" y="0"/>
                  <a:pt x="0" y="28476"/>
                  <a:pt x="0" y="63500"/>
                </a:cubicBezTo>
                <a:lnTo>
                  <a:pt x="0" y="444500"/>
                </a:lnTo>
                <a:cubicBezTo>
                  <a:pt x="0" y="479524"/>
                  <a:pt x="28476" y="508000"/>
                  <a:pt x="63500" y="508000"/>
                </a:cubicBezTo>
                <a:lnTo>
                  <a:pt x="317500" y="508000"/>
                </a:lnTo>
                <a:cubicBezTo>
                  <a:pt x="352524" y="508000"/>
                  <a:pt x="381000" y="479524"/>
                  <a:pt x="381000" y="444500"/>
                </a:cubicBezTo>
                <a:lnTo>
                  <a:pt x="381000" y="63500"/>
                </a:lnTo>
                <a:cubicBezTo>
                  <a:pt x="381000" y="28476"/>
                  <a:pt x="352524" y="0"/>
                  <a:pt x="317500" y="0"/>
                </a:cubicBezTo>
                <a:lnTo>
                  <a:pt x="63500" y="0"/>
                </a:lnTo>
                <a:close/>
                <a:moveTo>
                  <a:pt x="174625" y="349250"/>
                </a:moveTo>
                <a:lnTo>
                  <a:pt x="206375" y="349250"/>
                </a:lnTo>
                <a:cubicBezTo>
                  <a:pt x="223937" y="349250"/>
                  <a:pt x="238125" y="363438"/>
                  <a:pt x="238125" y="381000"/>
                </a:cubicBezTo>
                <a:lnTo>
                  <a:pt x="238125" y="460375"/>
                </a:lnTo>
                <a:lnTo>
                  <a:pt x="142875" y="460375"/>
                </a:lnTo>
                <a:lnTo>
                  <a:pt x="142875" y="381000"/>
                </a:lnTo>
                <a:cubicBezTo>
                  <a:pt x="142875" y="363438"/>
                  <a:pt x="157063" y="349250"/>
                  <a:pt x="174625" y="349250"/>
                </a:cubicBezTo>
                <a:close/>
                <a:moveTo>
                  <a:pt x="95250" y="111125"/>
                </a:moveTo>
                <a:cubicBezTo>
                  <a:pt x="95250" y="102394"/>
                  <a:pt x="102394" y="95250"/>
                  <a:pt x="111125" y="95250"/>
                </a:cubicBezTo>
                <a:lnTo>
                  <a:pt x="142875" y="95250"/>
                </a:lnTo>
                <a:cubicBezTo>
                  <a:pt x="151606" y="95250"/>
                  <a:pt x="158750" y="102394"/>
                  <a:pt x="158750" y="111125"/>
                </a:cubicBezTo>
                <a:lnTo>
                  <a:pt x="158750" y="142875"/>
                </a:lnTo>
                <a:cubicBezTo>
                  <a:pt x="158750" y="151606"/>
                  <a:pt x="151606" y="158750"/>
                  <a:pt x="142875" y="158750"/>
                </a:cubicBezTo>
                <a:lnTo>
                  <a:pt x="111125" y="158750"/>
                </a:lnTo>
                <a:cubicBezTo>
                  <a:pt x="102394" y="158750"/>
                  <a:pt x="95250" y="151606"/>
                  <a:pt x="95250" y="142875"/>
                </a:cubicBezTo>
                <a:lnTo>
                  <a:pt x="95250" y="111125"/>
                </a:lnTo>
                <a:close/>
                <a:moveTo>
                  <a:pt x="238125" y="95250"/>
                </a:moveTo>
                <a:lnTo>
                  <a:pt x="269875" y="95250"/>
                </a:lnTo>
                <a:cubicBezTo>
                  <a:pt x="278606" y="95250"/>
                  <a:pt x="285750" y="102394"/>
                  <a:pt x="285750" y="111125"/>
                </a:cubicBezTo>
                <a:lnTo>
                  <a:pt x="285750" y="142875"/>
                </a:lnTo>
                <a:cubicBezTo>
                  <a:pt x="285750" y="151606"/>
                  <a:pt x="278606" y="158750"/>
                  <a:pt x="269875" y="158750"/>
                </a:cubicBezTo>
                <a:lnTo>
                  <a:pt x="238125" y="158750"/>
                </a:lnTo>
                <a:cubicBezTo>
                  <a:pt x="229394" y="158750"/>
                  <a:pt x="222250" y="151606"/>
                  <a:pt x="222250" y="142875"/>
                </a:cubicBezTo>
                <a:lnTo>
                  <a:pt x="222250" y="111125"/>
                </a:lnTo>
                <a:cubicBezTo>
                  <a:pt x="222250" y="102394"/>
                  <a:pt x="229394" y="95250"/>
                  <a:pt x="238125" y="95250"/>
                </a:cubicBezTo>
                <a:close/>
                <a:moveTo>
                  <a:pt x="95250" y="238125"/>
                </a:moveTo>
                <a:cubicBezTo>
                  <a:pt x="95250" y="229394"/>
                  <a:pt x="102394" y="222250"/>
                  <a:pt x="111125" y="222250"/>
                </a:cubicBezTo>
                <a:lnTo>
                  <a:pt x="142875" y="222250"/>
                </a:lnTo>
                <a:cubicBezTo>
                  <a:pt x="151606" y="222250"/>
                  <a:pt x="158750" y="229394"/>
                  <a:pt x="158750" y="238125"/>
                </a:cubicBezTo>
                <a:lnTo>
                  <a:pt x="158750" y="269875"/>
                </a:lnTo>
                <a:cubicBezTo>
                  <a:pt x="158750" y="278606"/>
                  <a:pt x="151606" y="285750"/>
                  <a:pt x="142875" y="285750"/>
                </a:cubicBezTo>
                <a:lnTo>
                  <a:pt x="111125" y="285750"/>
                </a:lnTo>
                <a:cubicBezTo>
                  <a:pt x="102394" y="285750"/>
                  <a:pt x="95250" y="278606"/>
                  <a:pt x="95250" y="269875"/>
                </a:cubicBezTo>
                <a:lnTo>
                  <a:pt x="95250" y="238125"/>
                </a:lnTo>
                <a:close/>
                <a:moveTo>
                  <a:pt x="238125" y="222250"/>
                </a:moveTo>
                <a:lnTo>
                  <a:pt x="269875" y="222250"/>
                </a:lnTo>
                <a:cubicBezTo>
                  <a:pt x="278606" y="222250"/>
                  <a:pt x="285750" y="229394"/>
                  <a:pt x="285750" y="238125"/>
                </a:cubicBezTo>
                <a:lnTo>
                  <a:pt x="285750" y="269875"/>
                </a:lnTo>
                <a:cubicBezTo>
                  <a:pt x="285750" y="278606"/>
                  <a:pt x="278606" y="285750"/>
                  <a:pt x="269875" y="285750"/>
                </a:cubicBezTo>
                <a:lnTo>
                  <a:pt x="238125" y="285750"/>
                </a:lnTo>
                <a:cubicBezTo>
                  <a:pt x="229394" y="285750"/>
                  <a:pt x="222250" y="278606"/>
                  <a:pt x="222250" y="269875"/>
                </a:cubicBezTo>
                <a:lnTo>
                  <a:pt x="222250" y="238125"/>
                </a:lnTo>
                <a:cubicBezTo>
                  <a:pt x="222250" y="229394"/>
                  <a:pt x="229394" y="222250"/>
                  <a:pt x="238125" y="222250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5200" y="29210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75200" y="34290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Discover, assess, and hire the right candidates efficiently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80400" y="1968500"/>
            <a:ext cx="3429000" cy="30480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5344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69776" y="20042"/>
                </a:moveTo>
                <a:cubicBezTo>
                  <a:pt x="260052" y="14486"/>
                  <a:pt x="248047" y="14486"/>
                  <a:pt x="238224" y="20042"/>
                </a:cubicBezTo>
                <a:lnTo>
                  <a:pt x="15974" y="147042"/>
                </a:lnTo>
                <a:cubicBezTo>
                  <a:pt x="3473" y="154186"/>
                  <a:pt x="-2679" y="168870"/>
                  <a:pt x="992" y="182761"/>
                </a:cubicBezTo>
                <a:cubicBezTo>
                  <a:pt x="4663" y="196652"/>
                  <a:pt x="17363" y="206375"/>
                  <a:pt x="31750" y="206375"/>
                </a:cubicBezTo>
                <a:lnTo>
                  <a:pt x="63500" y="206375"/>
                </a:lnTo>
                <a:lnTo>
                  <a:pt x="63500" y="412750"/>
                </a:lnTo>
                <a:lnTo>
                  <a:pt x="63500" y="412750"/>
                </a:lnTo>
                <a:lnTo>
                  <a:pt x="12700" y="450850"/>
                </a:lnTo>
                <a:cubicBezTo>
                  <a:pt x="4663" y="456803"/>
                  <a:pt x="0" y="466229"/>
                  <a:pt x="0" y="476250"/>
                </a:cubicBezTo>
                <a:cubicBezTo>
                  <a:pt x="0" y="493812"/>
                  <a:pt x="14188" y="508000"/>
                  <a:pt x="31750" y="508000"/>
                </a:cubicBezTo>
                <a:lnTo>
                  <a:pt x="476250" y="508000"/>
                </a:lnTo>
                <a:cubicBezTo>
                  <a:pt x="493812" y="508000"/>
                  <a:pt x="508000" y="493812"/>
                  <a:pt x="508000" y="476250"/>
                </a:cubicBezTo>
                <a:cubicBezTo>
                  <a:pt x="508000" y="466229"/>
                  <a:pt x="503337" y="456803"/>
                  <a:pt x="495300" y="450850"/>
                </a:cubicBezTo>
                <a:lnTo>
                  <a:pt x="444500" y="412750"/>
                </a:lnTo>
                <a:lnTo>
                  <a:pt x="444500" y="206375"/>
                </a:lnTo>
                <a:lnTo>
                  <a:pt x="476250" y="206375"/>
                </a:lnTo>
                <a:cubicBezTo>
                  <a:pt x="490637" y="206375"/>
                  <a:pt x="503238" y="196652"/>
                  <a:pt x="506909" y="182761"/>
                </a:cubicBezTo>
                <a:cubicBezTo>
                  <a:pt x="510580" y="168870"/>
                  <a:pt x="504428" y="154186"/>
                  <a:pt x="491927" y="147042"/>
                </a:cubicBezTo>
                <a:lnTo>
                  <a:pt x="269677" y="20042"/>
                </a:lnTo>
                <a:close/>
                <a:moveTo>
                  <a:pt x="396875" y="206375"/>
                </a:moveTo>
                <a:lnTo>
                  <a:pt x="396875" y="412750"/>
                </a:lnTo>
                <a:lnTo>
                  <a:pt x="333375" y="412750"/>
                </a:lnTo>
                <a:lnTo>
                  <a:pt x="333375" y="206375"/>
                </a:lnTo>
                <a:lnTo>
                  <a:pt x="396875" y="206375"/>
                </a:lnTo>
                <a:close/>
                <a:moveTo>
                  <a:pt x="285750" y="206375"/>
                </a:moveTo>
                <a:lnTo>
                  <a:pt x="285750" y="412750"/>
                </a:lnTo>
                <a:lnTo>
                  <a:pt x="222250" y="412750"/>
                </a:lnTo>
                <a:lnTo>
                  <a:pt x="222250" y="206375"/>
                </a:lnTo>
                <a:lnTo>
                  <a:pt x="285750" y="206375"/>
                </a:lnTo>
                <a:close/>
                <a:moveTo>
                  <a:pt x="174625" y="206375"/>
                </a:moveTo>
                <a:lnTo>
                  <a:pt x="174625" y="412750"/>
                </a:lnTo>
                <a:lnTo>
                  <a:pt x="111125" y="412750"/>
                </a:lnTo>
                <a:lnTo>
                  <a:pt x="111125" y="206375"/>
                </a:lnTo>
                <a:lnTo>
                  <a:pt x="174625" y="206375"/>
                </a:lnTo>
                <a:close/>
                <a:moveTo>
                  <a:pt x="254000" y="95250"/>
                </a:moveTo>
                <a:cubicBezTo>
                  <a:pt x="271523" y="95250"/>
                  <a:pt x="285750" y="109477"/>
                  <a:pt x="285750" y="127000"/>
                </a:cubicBezTo>
                <a:cubicBezTo>
                  <a:pt x="285750" y="144523"/>
                  <a:pt x="271523" y="158750"/>
                  <a:pt x="254000" y="158750"/>
                </a:cubicBezTo>
                <a:cubicBezTo>
                  <a:pt x="236477" y="158750"/>
                  <a:pt x="222250" y="144523"/>
                  <a:pt x="222250" y="127000"/>
                </a:cubicBezTo>
                <a:cubicBezTo>
                  <a:pt x="222250" y="109477"/>
                  <a:pt x="236477" y="95250"/>
                  <a:pt x="254000" y="95250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34400" y="29210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34400" y="34290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Administer placements, analytics, and compliance in one place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039600" y="1968500"/>
            <a:ext cx="3429000" cy="30480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261850" y="2222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66799" y="84534"/>
                </a:moveTo>
                <a:lnTo>
                  <a:pt x="151110" y="213122"/>
                </a:lnTo>
                <a:cubicBezTo>
                  <a:pt x="146546" y="218182"/>
                  <a:pt x="146745" y="226020"/>
                  <a:pt x="151606" y="230882"/>
                </a:cubicBezTo>
                <a:cubicBezTo>
                  <a:pt x="181868" y="261144"/>
                  <a:pt x="230981" y="261144"/>
                  <a:pt x="261243" y="230882"/>
                </a:cubicBezTo>
                <a:lnTo>
                  <a:pt x="292795" y="199330"/>
                </a:lnTo>
                <a:cubicBezTo>
                  <a:pt x="296962" y="195163"/>
                  <a:pt x="302220" y="192881"/>
                  <a:pt x="307578" y="192484"/>
                </a:cubicBezTo>
                <a:cubicBezTo>
                  <a:pt x="314325" y="191889"/>
                  <a:pt x="321270" y="194171"/>
                  <a:pt x="326430" y="199330"/>
                </a:cubicBezTo>
                <a:lnTo>
                  <a:pt x="501650" y="373063"/>
                </a:lnTo>
                <a:lnTo>
                  <a:pt x="571500" y="317500"/>
                </a:lnTo>
                <a:lnTo>
                  <a:pt x="571500" y="31750"/>
                </a:lnTo>
                <a:lnTo>
                  <a:pt x="460375" y="95250"/>
                </a:lnTo>
                <a:lnTo>
                  <a:pt x="436761" y="79474"/>
                </a:lnTo>
                <a:cubicBezTo>
                  <a:pt x="421084" y="69056"/>
                  <a:pt x="402729" y="63500"/>
                  <a:pt x="383877" y="63500"/>
                </a:cubicBezTo>
                <a:lnTo>
                  <a:pt x="314027" y="63500"/>
                </a:lnTo>
                <a:cubicBezTo>
                  <a:pt x="312936" y="63500"/>
                  <a:pt x="311745" y="63500"/>
                  <a:pt x="310654" y="63599"/>
                </a:cubicBezTo>
                <a:cubicBezTo>
                  <a:pt x="293886" y="64492"/>
                  <a:pt x="278110" y="72033"/>
                  <a:pt x="266799" y="84534"/>
                </a:cubicBezTo>
                <a:close/>
                <a:moveTo>
                  <a:pt x="115689" y="181273"/>
                </a:moveTo>
                <a:lnTo>
                  <a:pt x="221655" y="63500"/>
                </a:lnTo>
                <a:lnTo>
                  <a:pt x="182364" y="63500"/>
                </a:lnTo>
                <a:cubicBezTo>
                  <a:pt x="157063" y="63500"/>
                  <a:pt x="132854" y="73521"/>
                  <a:pt x="114995" y="91380"/>
                </a:cubicBezTo>
                <a:lnTo>
                  <a:pt x="111125" y="95250"/>
                </a:lnTo>
                <a:lnTo>
                  <a:pt x="0" y="31750"/>
                </a:lnTo>
                <a:lnTo>
                  <a:pt x="0" y="317500"/>
                </a:lnTo>
                <a:lnTo>
                  <a:pt x="155178" y="446782"/>
                </a:lnTo>
                <a:cubicBezTo>
                  <a:pt x="177998" y="465832"/>
                  <a:pt x="206772" y="476250"/>
                  <a:pt x="236438" y="476250"/>
                </a:cubicBezTo>
                <a:lnTo>
                  <a:pt x="252016" y="476250"/>
                </a:lnTo>
                <a:lnTo>
                  <a:pt x="245070" y="469305"/>
                </a:lnTo>
                <a:cubicBezTo>
                  <a:pt x="235744" y="459978"/>
                  <a:pt x="235744" y="444897"/>
                  <a:pt x="245070" y="435670"/>
                </a:cubicBezTo>
                <a:cubicBezTo>
                  <a:pt x="254397" y="426442"/>
                  <a:pt x="269478" y="426343"/>
                  <a:pt x="278705" y="435670"/>
                </a:cubicBezTo>
                <a:lnTo>
                  <a:pt x="319385" y="476349"/>
                </a:lnTo>
                <a:lnTo>
                  <a:pt x="328315" y="476349"/>
                </a:lnTo>
                <a:cubicBezTo>
                  <a:pt x="347266" y="476349"/>
                  <a:pt x="365820" y="472083"/>
                  <a:pt x="382687" y="464145"/>
                </a:cubicBezTo>
                <a:lnTo>
                  <a:pt x="356195" y="437555"/>
                </a:lnTo>
                <a:cubicBezTo>
                  <a:pt x="346869" y="428228"/>
                  <a:pt x="346869" y="413147"/>
                  <a:pt x="356195" y="403920"/>
                </a:cubicBezTo>
                <a:cubicBezTo>
                  <a:pt x="365522" y="394692"/>
                  <a:pt x="380603" y="394593"/>
                  <a:pt x="389830" y="403920"/>
                </a:cubicBezTo>
                <a:lnTo>
                  <a:pt x="421580" y="435670"/>
                </a:lnTo>
                <a:lnTo>
                  <a:pt x="438944" y="418306"/>
                </a:lnTo>
                <a:cubicBezTo>
                  <a:pt x="447774" y="409476"/>
                  <a:pt x="450354" y="396677"/>
                  <a:pt x="446484" y="385465"/>
                </a:cubicBezTo>
                <a:lnTo>
                  <a:pt x="309662" y="249734"/>
                </a:lnTo>
                <a:lnTo>
                  <a:pt x="294878" y="264517"/>
                </a:lnTo>
                <a:cubicBezTo>
                  <a:pt x="245963" y="313432"/>
                  <a:pt x="166787" y="313432"/>
                  <a:pt x="117872" y="264517"/>
                </a:cubicBezTo>
                <a:cubicBezTo>
                  <a:pt x="95052" y="241697"/>
                  <a:pt x="94159" y="205085"/>
                  <a:pt x="115689" y="181173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293600" y="29210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Alumni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293600" y="34290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Hire, mentor, and give back to your alma mater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461000"/>
            <a:ext cx="14732000" cy="0"/>
          </a:xfrm>
          <a:prstGeom prst="straightConnector1">
            <a:avLst/>
          </a:prstGeom>
          <a:noFill/>
          <a:ln w="12700">
            <a:solidFill>
              <a:srgbClr val="1A1A2E">
                <a:alpha val="1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2000" y="58420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Platform For: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62000" y="6413500"/>
            <a:ext cx="14732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Placements</a:t>
            </a:r>
            <a:r>
              <a:rPr lang="en-US" sz="20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End-to-end placement lifecycle management from posting to offer</a:t>
            </a:r>
            <a:endParaRPr lang="en-US" sz="2000" dirty="0"/>
          </a:p>
          <a:p>
            <a:pPr marL="317500" indent="-3175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Alumni Hiring &amp; Mentoring</a:t>
            </a:r>
            <a:r>
              <a:rPr lang="en-US" sz="20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Leverage alumni networks for recruitment and student guidance</a:t>
            </a:r>
            <a:endParaRPr lang="en-US" sz="2000" dirty="0"/>
          </a:p>
          <a:p>
            <a:pPr marL="317500" indent="-3175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Scholarships &amp; Sponsorships</a:t>
            </a:r>
            <a:r>
              <a:rPr lang="en-US" sz="20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Streamlined funding and grant administration</a:t>
            </a:r>
            <a:endParaRPr lang="en-US" sz="2000" dirty="0"/>
          </a:p>
          <a:p>
            <a:pPr marL="317500" indent="-3175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Institutional Engagement</a:t>
            </a:r>
            <a:r>
              <a:rPr lang="en-US" sz="20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Comprehensive analytics, compliance, and reporting tools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859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3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50800" cy="4572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5200" y="990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Capabilities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3429000" cy="62230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4575" y="2159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15473" y="-11609"/>
                </a:moveTo>
                <a:cubicBezTo>
                  <a:pt x="205294" y="-13662"/>
                  <a:pt x="194846" y="-13662"/>
                  <a:pt x="184666" y="-11609"/>
                </a:cubicBezTo>
                <a:lnTo>
                  <a:pt x="17234" y="21878"/>
                </a:lnTo>
                <a:cubicBezTo>
                  <a:pt x="7233" y="23842"/>
                  <a:pt x="0" y="32683"/>
                  <a:pt x="0" y="42863"/>
                </a:cubicBezTo>
                <a:cubicBezTo>
                  <a:pt x="0" y="52060"/>
                  <a:pt x="5804" y="60097"/>
                  <a:pt x="14288" y="63044"/>
                </a:cubicBezTo>
                <a:lnTo>
                  <a:pt x="14288" y="128588"/>
                </a:lnTo>
                <a:lnTo>
                  <a:pt x="268" y="198775"/>
                </a:lnTo>
                <a:cubicBezTo>
                  <a:pt x="89" y="199579"/>
                  <a:pt x="0" y="200471"/>
                  <a:pt x="0" y="201364"/>
                </a:cubicBezTo>
                <a:cubicBezTo>
                  <a:pt x="0" y="208508"/>
                  <a:pt x="5804" y="214402"/>
                  <a:pt x="13037" y="214402"/>
                </a:cubicBezTo>
                <a:lnTo>
                  <a:pt x="44202" y="214402"/>
                </a:lnTo>
                <a:cubicBezTo>
                  <a:pt x="51346" y="214402"/>
                  <a:pt x="57239" y="208598"/>
                  <a:pt x="57239" y="201364"/>
                </a:cubicBezTo>
                <a:cubicBezTo>
                  <a:pt x="57239" y="200471"/>
                  <a:pt x="57150" y="199668"/>
                  <a:pt x="56971" y="198775"/>
                </a:cubicBezTo>
                <a:lnTo>
                  <a:pt x="42863" y="128588"/>
                </a:lnTo>
                <a:lnTo>
                  <a:pt x="42863" y="69026"/>
                </a:lnTo>
                <a:lnTo>
                  <a:pt x="85725" y="77599"/>
                </a:lnTo>
                <a:lnTo>
                  <a:pt x="85725" y="128588"/>
                </a:lnTo>
                <a:cubicBezTo>
                  <a:pt x="85725" y="191720"/>
                  <a:pt x="136892" y="242888"/>
                  <a:pt x="200025" y="242888"/>
                </a:cubicBezTo>
                <a:cubicBezTo>
                  <a:pt x="263158" y="242888"/>
                  <a:pt x="314325" y="191720"/>
                  <a:pt x="314325" y="128588"/>
                </a:cubicBezTo>
                <a:lnTo>
                  <a:pt x="314325" y="77599"/>
                </a:lnTo>
                <a:lnTo>
                  <a:pt x="382816" y="63937"/>
                </a:lnTo>
                <a:cubicBezTo>
                  <a:pt x="392817" y="61883"/>
                  <a:pt x="400050" y="53042"/>
                  <a:pt x="400050" y="42863"/>
                </a:cubicBezTo>
                <a:cubicBezTo>
                  <a:pt x="400050" y="32683"/>
                  <a:pt x="392817" y="23842"/>
                  <a:pt x="382816" y="21878"/>
                </a:cubicBezTo>
                <a:lnTo>
                  <a:pt x="215473" y="-11609"/>
                </a:lnTo>
                <a:close/>
                <a:moveTo>
                  <a:pt x="200025" y="200025"/>
                </a:moveTo>
                <a:cubicBezTo>
                  <a:pt x="160556" y="200025"/>
                  <a:pt x="128588" y="168057"/>
                  <a:pt x="128588" y="128588"/>
                </a:cubicBezTo>
                <a:lnTo>
                  <a:pt x="271463" y="128588"/>
                </a:lnTo>
                <a:cubicBezTo>
                  <a:pt x="271463" y="168057"/>
                  <a:pt x="239494" y="200025"/>
                  <a:pt x="200025" y="200025"/>
                </a:cubicBezTo>
                <a:close/>
                <a:moveTo>
                  <a:pt x="107246" y="285839"/>
                </a:moveTo>
                <a:cubicBezTo>
                  <a:pt x="52417" y="311021"/>
                  <a:pt x="14288" y="366385"/>
                  <a:pt x="14288" y="430679"/>
                </a:cubicBezTo>
                <a:cubicBezTo>
                  <a:pt x="14288" y="445324"/>
                  <a:pt x="26164" y="457200"/>
                  <a:pt x="40809" y="457200"/>
                </a:cubicBezTo>
                <a:lnTo>
                  <a:pt x="178594" y="457200"/>
                </a:lnTo>
                <a:lnTo>
                  <a:pt x="178594" y="326827"/>
                </a:lnTo>
                <a:lnTo>
                  <a:pt x="127337" y="288429"/>
                </a:lnTo>
                <a:cubicBezTo>
                  <a:pt x="121533" y="284053"/>
                  <a:pt x="113764" y="282893"/>
                  <a:pt x="107156" y="285929"/>
                </a:cubicBezTo>
                <a:close/>
                <a:moveTo>
                  <a:pt x="221456" y="457200"/>
                </a:moveTo>
                <a:lnTo>
                  <a:pt x="359241" y="457200"/>
                </a:lnTo>
                <a:cubicBezTo>
                  <a:pt x="373886" y="457200"/>
                  <a:pt x="385763" y="445324"/>
                  <a:pt x="385763" y="430679"/>
                </a:cubicBezTo>
                <a:cubicBezTo>
                  <a:pt x="385763" y="366385"/>
                  <a:pt x="347633" y="311021"/>
                  <a:pt x="292804" y="285929"/>
                </a:cubicBezTo>
                <a:cubicBezTo>
                  <a:pt x="286196" y="282893"/>
                  <a:pt x="278428" y="284053"/>
                  <a:pt x="272623" y="288429"/>
                </a:cubicBezTo>
                <a:lnTo>
                  <a:pt x="221367" y="326827"/>
                </a:lnTo>
                <a:lnTo>
                  <a:pt x="221367" y="457200"/>
                </a:ln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6000" y="27940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Students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16000" y="3302000"/>
            <a:ext cx="508000" cy="0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16000" y="3556000"/>
            <a:ext cx="2921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Placement tracking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Offer management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Interview scheduling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 builder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1200" y="1905000"/>
            <a:ext cx="3429000" cy="62230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32350" y="2159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157163" y="314325"/>
                </a:moveTo>
                <a:lnTo>
                  <a:pt x="185738" y="314325"/>
                </a:lnTo>
                <a:cubicBezTo>
                  <a:pt x="201543" y="314325"/>
                  <a:pt x="214313" y="327094"/>
                  <a:pt x="214313" y="342900"/>
                </a:cubicBezTo>
                <a:lnTo>
                  <a:pt x="214313" y="414338"/>
                </a:lnTo>
                <a:lnTo>
                  <a:pt x="128588" y="414338"/>
                </a:lnTo>
                <a:lnTo>
                  <a:pt x="128588" y="342900"/>
                </a:lnTo>
                <a:cubicBezTo>
                  <a:pt x="128588" y="327094"/>
                  <a:pt x="141357" y="314325"/>
                  <a:pt x="157163" y="314325"/>
                </a:cubicBezTo>
                <a:close/>
                <a:moveTo>
                  <a:pt x="85725" y="100013"/>
                </a:moveTo>
                <a:cubicBezTo>
                  <a:pt x="85725" y="92154"/>
                  <a:pt x="92154" y="85725"/>
                  <a:pt x="100013" y="85725"/>
                </a:cubicBezTo>
                <a:lnTo>
                  <a:pt x="128588" y="85725"/>
                </a:lnTo>
                <a:cubicBezTo>
                  <a:pt x="136446" y="85725"/>
                  <a:pt x="142875" y="92154"/>
                  <a:pt x="142875" y="100013"/>
                </a:cubicBezTo>
                <a:lnTo>
                  <a:pt x="142875" y="128588"/>
                </a:lnTo>
                <a:cubicBezTo>
                  <a:pt x="142875" y="136446"/>
                  <a:pt x="136446" y="142875"/>
                  <a:pt x="128588" y="142875"/>
                </a:cubicBezTo>
                <a:lnTo>
                  <a:pt x="100013" y="142875"/>
                </a:lnTo>
                <a:cubicBezTo>
                  <a:pt x="92154" y="142875"/>
                  <a:pt x="85725" y="136446"/>
                  <a:pt x="85725" y="128588"/>
                </a:cubicBezTo>
                <a:lnTo>
                  <a:pt x="85725" y="100013"/>
                </a:lnTo>
                <a:close/>
                <a:moveTo>
                  <a:pt x="214313" y="85725"/>
                </a:moveTo>
                <a:lnTo>
                  <a:pt x="242888" y="85725"/>
                </a:lnTo>
                <a:cubicBezTo>
                  <a:pt x="250746" y="85725"/>
                  <a:pt x="257175" y="92154"/>
                  <a:pt x="257175" y="100013"/>
                </a:cubicBezTo>
                <a:lnTo>
                  <a:pt x="257175" y="128588"/>
                </a:lnTo>
                <a:cubicBezTo>
                  <a:pt x="257175" y="136446"/>
                  <a:pt x="250746" y="142875"/>
                  <a:pt x="242888" y="142875"/>
                </a:cubicBezTo>
                <a:lnTo>
                  <a:pt x="214313" y="142875"/>
                </a:lnTo>
                <a:cubicBezTo>
                  <a:pt x="206454" y="142875"/>
                  <a:pt x="200025" y="136446"/>
                  <a:pt x="200025" y="128588"/>
                </a:cubicBezTo>
                <a:lnTo>
                  <a:pt x="200025" y="100013"/>
                </a:lnTo>
                <a:cubicBezTo>
                  <a:pt x="200025" y="92154"/>
                  <a:pt x="206454" y="85725"/>
                  <a:pt x="214313" y="85725"/>
                </a:cubicBezTo>
                <a:close/>
                <a:moveTo>
                  <a:pt x="85725" y="214313"/>
                </a:moveTo>
                <a:cubicBezTo>
                  <a:pt x="85725" y="206454"/>
                  <a:pt x="92154" y="200025"/>
                  <a:pt x="100013" y="200025"/>
                </a:cubicBezTo>
                <a:lnTo>
                  <a:pt x="128588" y="200025"/>
                </a:lnTo>
                <a:cubicBezTo>
                  <a:pt x="136446" y="200025"/>
                  <a:pt x="142875" y="206454"/>
                  <a:pt x="142875" y="214313"/>
                </a:cubicBezTo>
                <a:lnTo>
                  <a:pt x="142875" y="242888"/>
                </a:lnTo>
                <a:cubicBezTo>
                  <a:pt x="142875" y="250746"/>
                  <a:pt x="136446" y="257175"/>
                  <a:pt x="128588" y="257175"/>
                </a:cubicBezTo>
                <a:lnTo>
                  <a:pt x="100013" y="257175"/>
                </a:lnTo>
                <a:cubicBezTo>
                  <a:pt x="92154" y="257175"/>
                  <a:pt x="85725" y="250746"/>
                  <a:pt x="85725" y="242888"/>
                </a:cubicBezTo>
                <a:lnTo>
                  <a:pt x="85725" y="214313"/>
                </a:lnTo>
                <a:close/>
                <a:moveTo>
                  <a:pt x="214313" y="200025"/>
                </a:moveTo>
                <a:lnTo>
                  <a:pt x="242888" y="200025"/>
                </a:lnTo>
                <a:cubicBezTo>
                  <a:pt x="250746" y="200025"/>
                  <a:pt x="257175" y="206454"/>
                  <a:pt x="257175" y="214313"/>
                </a:cubicBezTo>
                <a:lnTo>
                  <a:pt x="257175" y="242888"/>
                </a:lnTo>
                <a:cubicBezTo>
                  <a:pt x="257175" y="250746"/>
                  <a:pt x="250746" y="257175"/>
                  <a:pt x="242888" y="257175"/>
                </a:cubicBezTo>
                <a:lnTo>
                  <a:pt x="214313" y="257175"/>
                </a:lnTo>
                <a:cubicBezTo>
                  <a:pt x="206454" y="257175"/>
                  <a:pt x="200025" y="250746"/>
                  <a:pt x="200025" y="242888"/>
                </a:cubicBezTo>
                <a:lnTo>
                  <a:pt x="200025" y="214313"/>
                </a:lnTo>
                <a:cubicBezTo>
                  <a:pt x="200025" y="206454"/>
                  <a:pt x="206454" y="200025"/>
                  <a:pt x="214313" y="200025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5200" y="27940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Employers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775200" y="3302000"/>
            <a:ext cx="508000" cy="0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75200" y="3556000"/>
            <a:ext cx="2921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Hiring workflows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Candidate management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Assessments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postings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80400" y="1905000"/>
            <a:ext cx="3429000" cy="62230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344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2798" y="18038"/>
                </a:moveTo>
                <a:cubicBezTo>
                  <a:pt x="234047" y="13037"/>
                  <a:pt x="223242" y="13037"/>
                  <a:pt x="214402" y="18038"/>
                </a:cubicBezTo>
                <a:lnTo>
                  <a:pt x="14377" y="132338"/>
                </a:lnTo>
                <a:cubicBezTo>
                  <a:pt x="3125" y="138767"/>
                  <a:pt x="-2411" y="151983"/>
                  <a:pt x="893" y="164485"/>
                </a:cubicBezTo>
                <a:cubicBezTo>
                  <a:pt x="4197" y="176986"/>
                  <a:pt x="15627" y="185738"/>
                  <a:pt x="28575" y="185738"/>
                </a:cubicBezTo>
                <a:lnTo>
                  <a:pt x="57150" y="185738"/>
                </a:lnTo>
                <a:lnTo>
                  <a:pt x="57150" y="371475"/>
                </a:lnTo>
                <a:lnTo>
                  <a:pt x="57150" y="371475"/>
                </a:lnTo>
                <a:lnTo>
                  <a:pt x="11430" y="405765"/>
                </a:lnTo>
                <a:cubicBezTo>
                  <a:pt x="4197" y="411123"/>
                  <a:pt x="0" y="419606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428625" y="457200"/>
                </a:lnTo>
                <a:cubicBezTo>
                  <a:pt x="444431" y="457200"/>
                  <a:pt x="457200" y="444431"/>
                  <a:pt x="457200" y="428625"/>
                </a:cubicBezTo>
                <a:cubicBezTo>
                  <a:pt x="457200" y="419606"/>
                  <a:pt x="453003" y="411123"/>
                  <a:pt x="445770" y="405765"/>
                </a:cubicBezTo>
                <a:lnTo>
                  <a:pt x="400050" y="371475"/>
                </a:lnTo>
                <a:lnTo>
                  <a:pt x="400050" y="185738"/>
                </a:lnTo>
                <a:lnTo>
                  <a:pt x="428625" y="185738"/>
                </a:lnTo>
                <a:cubicBezTo>
                  <a:pt x="441573" y="185738"/>
                  <a:pt x="452914" y="176986"/>
                  <a:pt x="456218" y="164485"/>
                </a:cubicBezTo>
                <a:cubicBezTo>
                  <a:pt x="459522" y="151983"/>
                  <a:pt x="453985" y="138767"/>
                  <a:pt x="442734" y="132338"/>
                </a:cubicBezTo>
                <a:lnTo>
                  <a:pt x="242709" y="18038"/>
                </a:lnTo>
                <a:close/>
                <a:moveTo>
                  <a:pt x="357188" y="185738"/>
                </a:moveTo>
                <a:lnTo>
                  <a:pt x="357188" y="371475"/>
                </a:lnTo>
                <a:lnTo>
                  <a:pt x="300038" y="371475"/>
                </a:lnTo>
                <a:lnTo>
                  <a:pt x="300038" y="185738"/>
                </a:lnTo>
                <a:lnTo>
                  <a:pt x="357188" y="185738"/>
                </a:lnTo>
                <a:close/>
                <a:moveTo>
                  <a:pt x="257175" y="185738"/>
                </a:moveTo>
                <a:lnTo>
                  <a:pt x="257175" y="371475"/>
                </a:lnTo>
                <a:lnTo>
                  <a:pt x="200025" y="371475"/>
                </a:lnTo>
                <a:lnTo>
                  <a:pt x="200025" y="185738"/>
                </a:lnTo>
                <a:lnTo>
                  <a:pt x="257175" y="185738"/>
                </a:lnTo>
                <a:close/>
                <a:moveTo>
                  <a:pt x="157163" y="185738"/>
                </a:moveTo>
                <a:lnTo>
                  <a:pt x="157163" y="371475"/>
                </a:lnTo>
                <a:lnTo>
                  <a:pt x="100013" y="371475"/>
                </a:lnTo>
                <a:lnTo>
                  <a:pt x="100013" y="185738"/>
                </a:lnTo>
                <a:lnTo>
                  <a:pt x="157163" y="185738"/>
                </a:lnTo>
                <a:close/>
                <a:moveTo>
                  <a:pt x="228600" y="85725"/>
                </a:moveTo>
                <a:cubicBezTo>
                  <a:pt x="244371" y="85725"/>
                  <a:pt x="257175" y="98529"/>
                  <a:pt x="257175" y="114300"/>
                </a:cubicBezTo>
                <a:cubicBezTo>
                  <a:pt x="257175" y="130071"/>
                  <a:pt x="244371" y="142875"/>
                  <a:pt x="228600" y="142875"/>
                </a:cubicBezTo>
                <a:cubicBezTo>
                  <a:pt x="212829" y="142875"/>
                  <a:pt x="200025" y="130071"/>
                  <a:pt x="200025" y="114300"/>
                </a:cubicBezTo>
                <a:cubicBezTo>
                  <a:pt x="200025" y="98529"/>
                  <a:pt x="212829" y="85725"/>
                  <a:pt x="228600" y="85725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34400" y="27940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Institutions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534400" y="3302000"/>
            <a:ext cx="508000" cy="0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34400" y="3556000"/>
            <a:ext cx="2921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Placement administration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 dashboard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reporting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management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 tools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039600" y="1905000"/>
            <a:ext cx="3429000" cy="62230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265025" y="2159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40119" y="76081"/>
                </a:moveTo>
                <a:lnTo>
                  <a:pt x="135999" y="191810"/>
                </a:lnTo>
                <a:cubicBezTo>
                  <a:pt x="131891" y="196364"/>
                  <a:pt x="132070" y="203418"/>
                  <a:pt x="136446" y="207794"/>
                </a:cubicBezTo>
                <a:cubicBezTo>
                  <a:pt x="163681" y="235029"/>
                  <a:pt x="207883" y="235029"/>
                  <a:pt x="235119" y="207794"/>
                </a:cubicBezTo>
                <a:lnTo>
                  <a:pt x="263515" y="179397"/>
                </a:lnTo>
                <a:cubicBezTo>
                  <a:pt x="267266" y="175647"/>
                  <a:pt x="271998" y="173593"/>
                  <a:pt x="276820" y="173236"/>
                </a:cubicBezTo>
                <a:cubicBezTo>
                  <a:pt x="282893" y="172700"/>
                  <a:pt x="289143" y="174754"/>
                  <a:pt x="293787" y="179397"/>
                </a:cubicBezTo>
                <a:lnTo>
                  <a:pt x="451485" y="335756"/>
                </a:lnTo>
                <a:lnTo>
                  <a:pt x="514350" y="285750"/>
                </a:lnTo>
                <a:lnTo>
                  <a:pt x="514350" y="28575"/>
                </a:lnTo>
                <a:lnTo>
                  <a:pt x="414338" y="85725"/>
                </a:lnTo>
                <a:lnTo>
                  <a:pt x="393085" y="71527"/>
                </a:lnTo>
                <a:cubicBezTo>
                  <a:pt x="378976" y="62151"/>
                  <a:pt x="362456" y="57150"/>
                  <a:pt x="345490" y="57150"/>
                </a:cubicBezTo>
                <a:lnTo>
                  <a:pt x="282625" y="57150"/>
                </a:lnTo>
                <a:cubicBezTo>
                  <a:pt x="281642" y="57150"/>
                  <a:pt x="280571" y="57150"/>
                  <a:pt x="279589" y="57239"/>
                </a:cubicBezTo>
                <a:cubicBezTo>
                  <a:pt x="264497" y="58043"/>
                  <a:pt x="250299" y="64830"/>
                  <a:pt x="240119" y="76081"/>
                </a:cubicBezTo>
                <a:close/>
                <a:moveTo>
                  <a:pt x="104120" y="163145"/>
                </a:moveTo>
                <a:lnTo>
                  <a:pt x="199489" y="57150"/>
                </a:lnTo>
                <a:lnTo>
                  <a:pt x="164128" y="57150"/>
                </a:lnTo>
                <a:cubicBezTo>
                  <a:pt x="141357" y="57150"/>
                  <a:pt x="119569" y="66169"/>
                  <a:pt x="103495" y="82242"/>
                </a:cubicBezTo>
                <a:lnTo>
                  <a:pt x="100013" y="85725"/>
                </a:lnTo>
                <a:lnTo>
                  <a:pt x="0" y="28575"/>
                </a:lnTo>
                <a:lnTo>
                  <a:pt x="0" y="285750"/>
                </a:lnTo>
                <a:lnTo>
                  <a:pt x="139660" y="402104"/>
                </a:lnTo>
                <a:cubicBezTo>
                  <a:pt x="160199" y="419249"/>
                  <a:pt x="186095" y="428625"/>
                  <a:pt x="212794" y="428625"/>
                </a:cubicBezTo>
                <a:lnTo>
                  <a:pt x="226814" y="428625"/>
                </a:lnTo>
                <a:lnTo>
                  <a:pt x="220563" y="422374"/>
                </a:lnTo>
                <a:cubicBezTo>
                  <a:pt x="212169" y="413980"/>
                  <a:pt x="212169" y="400407"/>
                  <a:pt x="220563" y="392103"/>
                </a:cubicBezTo>
                <a:cubicBezTo>
                  <a:pt x="228957" y="383798"/>
                  <a:pt x="242530" y="383709"/>
                  <a:pt x="250835" y="392103"/>
                </a:cubicBezTo>
                <a:lnTo>
                  <a:pt x="287447" y="428714"/>
                </a:lnTo>
                <a:lnTo>
                  <a:pt x="295483" y="428714"/>
                </a:lnTo>
                <a:cubicBezTo>
                  <a:pt x="312539" y="428714"/>
                  <a:pt x="329238" y="424875"/>
                  <a:pt x="344418" y="417731"/>
                </a:cubicBezTo>
                <a:lnTo>
                  <a:pt x="320576" y="393799"/>
                </a:lnTo>
                <a:cubicBezTo>
                  <a:pt x="312182" y="385405"/>
                  <a:pt x="312182" y="371832"/>
                  <a:pt x="320576" y="363528"/>
                </a:cubicBezTo>
                <a:cubicBezTo>
                  <a:pt x="328970" y="355223"/>
                  <a:pt x="342543" y="355134"/>
                  <a:pt x="350847" y="363528"/>
                </a:cubicBezTo>
                <a:lnTo>
                  <a:pt x="379422" y="392103"/>
                </a:lnTo>
                <a:lnTo>
                  <a:pt x="395049" y="376476"/>
                </a:lnTo>
                <a:cubicBezTo>
                  <a:pt x="402997" y="368528"/>
                  <a:pt x="405319" y="357009"/>
                  <a:pt x="401836" y="346918"/>
                </a:cubicBezTo>
                <a:lnTo>
                  <a:pt x="278696" y="224760"/>
                </a:lnTo>
                <a:lnTo>
                  <a:pt x="265390" y="238065"/>
                </a:lnTo>
                <a:cubicBezTo>
                  <a:pt x="221367" y="282089"/>
                  <a:pt x="150108" y="282089"/>
                  <a:pt x="106085" y="238065"/>
                </a:cubicBezTo>
                <a:cubicBezTo>
                  <a:pt x="85546" y="217527"/>
                  <a:pt x="84743" y="184577"/>
                  <a:pt x="104120" y="163056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293600" y="27940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Alumni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2293600" y="3302000"/>
            <a:ext cx="508000" cy="0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293600" y="3556000"/>
            <a:ext cx="2921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Hiring from alma mater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Mentoring students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Scholarship giving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access</a:t>
            </a:r>
            <a:endParaRPr lang="en-US" sz="1600" dirty="0"/>
          </a:p>
          <a:p>
            <a:pPr marL="254000" indent="-254000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participation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859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A6EDB683-DF37-5407-1B6E-05A56F898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1" y="2015728"/>
            <a:ext cx="7052938" cy="318341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491EE73-0132-3EDD-4F5A-01D79F8A3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2695" y="5499100"/>
            <a:ext cx="7036119" cy="32571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5152861-9663-2F32-718F-0C1759AFA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196" y="2015728"/>
            <a:ext cx="7070578" cy="3111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908788C-362F-9718-430F-131CB87A0D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655" y="5473528"/>
            <a:ext cx="7036119" cy="320057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3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50800" cy="4572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5200" y="990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in Action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784600" y="298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76200"/>
                </a:moveTo>
                <a:cubicBezTo>
                  <a:pt x="76200" y="55126"/>
                  <a:pt x="59174" y="38100"/>
                  <a:pt x="38100" y="38100"/>
                </a:cubicBezTo>
                <a:cubicBezTo>
                  <a:pt x="17026" y="38100"/>
                  <a:pt x="0" y="55126"/>
                  <a:pt x="0" y="76200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71500" y="571500"/>
                </a:lnTo>
                <a:cubicBezTo>
                  <a:pt x="592574" y="571500"/>
                  <a:pt x="609600" y="554474"/>
                  <a:pt x="609600" y="533400"/>
                </a:cubicBezTo>
                <a:cubicBezTo>
                  <a:pt x="609600" y="512326"/>
                  <a:pt x="592574" y="495300"/>
                  <a:pt x="571500" y="495300"/>
                </a:cubicBezTo>
                <a:lnTo>
                  <a:pt x="95250" y="495300"/>
                </a:lnTo>
                <a:cubicBezTo>
                  <a:pt x="84773" y="495300"/>
                  <a:pt x="76200" y="486728"/>
                  <a:pt x="76200" y="476250"/>
                </a:cubicBezTo>
                <a:lnTo>
                  <a:pt x="76200" y="76200"/>
                </a:lnTo>
                <a:close/>
                <a:moveTo>
                  <a:pt x="560308" y="179308"/>
                </a:moveTo>
                <a:cubicBezTo>
                  <a:pt x="575191" y="164425"/>
                  <a:pt x="575191" y="140256"/>
                  <a:pt x="560308" y="125373"/>
                </a:cubicBezTo>
                <a:cubicBezTo>
                  <a:pt x="545425" y="110490"/>
                  <a:pt x="521256" y="110490"/>
                  <a:pt x="506373" y="125373"/>
                </a:cubicBezTo>
                <a:lnTo>
                  <a:pt x="381000" y="250865"/>
                </a:lnTo>
                <a:lnTo>
                  <a:pt x="312658" y="182642"/>
                </a:lnTo>
                <a:cubicBezTo>
                  <a:pt x="297775" y="167759"/>
                  <a:pt x="273606" y="167759"/>
                  <a:pt x="258723" y="182642"/>
                </a:cubicBezTo>
                <a:lnTo>
                  <a:pt x="144423" y="296942"/>
                </a:lnTo>
                <a:cubicBezTo>
                  <a:pt x="129540" y="311825"/>
                  <a:pt x="129540" y="335994"/>
                  <a:pt x="144423" y="350877"/>
                </a:cubicBezTo>
                <a:cubicBezTo>
                  <a:pt x="159306" y="365760"/>
                  <a:pt x="183475" y="365760"/>
                  <a:pt x="198358" y="350877"/>
                </a:cubicBezTo>
                <a:lnTo>
                  <a:pt x="285750" y="263485"/>
                </a:lnTo>
                <a:lnTo>
                  <a:pt x="354092" y="331827"/>
                </a:lnTo>
                <a:cubicBezTo>
                  <a:pt x="368975" y="346710"/>
                  <a:pt x="393144" y="346710"/>
                  <a:pt x="408027" y="331827"/>
                </a:cubicBezTo>
                <a:lnTo>
                  <a:pt x="560427" y="179427"/>
                </a:ln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6469" y="4715272"/>
            <a:ext cx="7175500" cy="355600"/>
          </a:xfrm>
          <a:prstGeom prst="rect">
            <a:avLst/>
          </a:prstGeom>
          <a:solidFill>
            <a:schemeClr val="bg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Overview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341100" y="298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9306" y="43220"/>
                </a:moveTo>
                <a:cubicBezTo>
                  <a:pt x="172283" y="52268"/>
                  <a:pt x="175379" y="70128"/>
                  <a:pt x="166330" y="82987"/>
                </a:cubicBezTo>
                <a:lnTo>
                  <a:pt x="99655" y="178237"/>
                </a:lnTo>
                <a:cubicBezTo>
                  <a:pt x="94774" y="185142"/>
                  <a:pt x="87154" y="189548"/>
                  <a:pt x="78700" y="190262"/>
                </a:cubicBezTo>
                <a:cubicBezTo>
                  <a:pt x="70247" y="190976"/>
                  <a:pt x="61912" y="188119"/>
                  <a:pt x="55959" y="182166"/>
                </a:cubicBezTo>
                <a:lnTo>
                  <a:pt x="8334" y="134541"/>
                </a:lnTo>
                <a:cubicBezTo>
                  <a:pt x="-2738" y="123349"/>
                  <a:pt x="-2738" y="105251"/>
                  <a:pt x="8334" y="94059"/>
                </a:cubicBezTo>
                <a:cubicBezTo>
                  <a:pt x="19407" y="82867"/>
                  <a:pt x="37624" y="82987"/>
                  <a:pt x="48816" y="94059"/>
                </a:cubicBezTo>
                <a:lnTo>
                  <a:pt x="72390" y="117634"/>
                </a:lnTo>
                <a:lnTo>
                  <a:pt x="119539" y="50244"/>
                </a:lnTo>
                <a:cubicBezTo>
                  <a:pt x="128588" y="37267"/>
                  <a:pt x="146447" y="34171"/>
                  <a:pt x="159306" y="43220"/>
                </a:cubicBezTo>
                <a:close/>
                <a:moveTo>
                  <a:pt x="159306" y="233720"/>
                </a:moveTo>
                <a:cubicBezTo>
                  <a:pt x="172283" y="242768"/>
                  <a:pt x="175379" y="260628"/>
                  <a:pt x="166330" y="273487"/>
                </a:cubicBezTo>
                <a:lnTo>
                  <a:pt x="99655" y="368737"/>
                </a:lnTo>
                <a:cubicBezTo>
                  <a:pt x="94774" y="375642"/>
                  <a:pt x="87154" y="380048"/>
                  <a:pt x="78700" y="380762"/>
                </a:cubicBezTo>
                <a:cubicBezTo>
                  <a:pt x="70247" y="381476"/>
                  <a:pt x="61912" y="378619"/>
                  <a:pt x="55959" y="372666"/>
                </a:cubicBezTo>
                <a:lnTo>
                  <a:pt x="8334" y="325041"/>
                </a:lnTo>
                <a:cubicBezTo>
                  <a:pt x="-2858" y="313849"/>
                  <a:pt x="-2858" y="295751"/>
                  <a:pt x="8334" y="284678"/>
                </a:cubicBezTo>
                <a:cubicBezTo>
                  <a:pt x="19526" y="273606"/>
                  <a:pt x="37624" y="273487"/>
                  <a:pt x="48697" y="284678"/>
                </a:cubicBezTo>
                <a:lnTo>
                  <a:pt x="72271" y="308253"/>
                </a:lnTo>
                <a:lnTo>
                  <a:pt x="119420" y="240863"/>
                </a:lnTo>
                <a:cubicBezTo>
                  <a:pt x="128468" y="227886"/>
                  <a:pt x="146328" y="224790"/>
                  <a:pt x="159187" y="233839"/>
                </a:cubicBezTo>
                <a:close/>
                <a:moveTo>
                  <a:pt x="266700" y="114300"/>
                </a:moveTo>
                <a:cubicBezTo>
                  <a:pt x="266700" y="93226"/>
                  <a:pt x="283726" y="76200"/>
                  <a:pt x="304800" y="76200"/>
                </a:cubicBezTo>
                <a:lnTo>
                  <a:pt x="571500" y="76200"/>
                </a:lnTo>
                <a:cubicBezTo>
                  <a:pt x="592574" y="76200"/>
                  <a:pt x="609600" y="93226"/>
                  <a:pt x="609600" y="114300"/>
                </a:cubicBezTo>
                <a:cubicBezTo>
                  <a:pt x="609600" y="135374"/>
                  <a:pt x="592574" y="152400"/>
                  <a:pt x="571500" y="152400"/>
                </a:cubicBezTo>
                <a:lnTo>
                  <a:pt x="304800" y="152400"/>
                </a:lnTo>
                <a:cubicBezTo>
                  <a:pt x="283726" y="152400"/>
                  <a:pt x="266700" y="135374"/>
                  <a:pt x="266700" y="114300"/>
                </a:cubicBezTo>
                <a:close/>
                <a:moveTo>
                  <a:pt x="266700" y="304800"/>
                </a:moveTo>
                <a:cubicBezTo>
                  <a:pt x="266700" y="283726"/>
                  <a:pt x="283726" y="266700"/>
                  <a:pt x="304800" y="266700"/>
                </a:cubicBezTo>
                <a:lnTo>
                  <a:pt x="571500" y="266700"/>
                </a:lnTo>
                <a:cubicBezTo>
                  <a:pt x="592574" y="266700"/>
                  <a:pt x="609600" y="283726"/>
                  <a:pt x="609600" y="304800"/>
                </a:cubicBezTo>
                <a:cubicBezTo>
                  <a:pt x="609600" y="325874"/>
                  <a:pt x="592574" y="342900"/>
                  <a:pt x="571500" y="342900"/>
                </a:cubicBezTo>
                <a:lnTo>
                  <a:pt x="304800" y="342900"/>
                </a:lnTo>
                <a:cubicBezTo>
                  <a:pt x="283726" y="342900"/>
                  <a:pt x="266700" y="325874"/>
                  <a:pt x="266700" y="304800"/>
                </a:cubicBezTo>
                <a:close/>
                <a:moveTo>
                  <a:pt x="190500" y="495300"/>
                </a:moveTo>
                <a:cubicBezTo>
                  <a:pt x="190500" y="474226"/>
                  <a:pt x="207526" y="457200"/>
                  <a:pt x="228600" y="457200"/>
                </a:cubicBezTo>
                <a:lnTo>
                  <a:pt x="571500" y="457200"/>
                </a:lnTo>
                <a:cubicBezTo>
                  <a:pt x="592574" y="457200"/>
                  <a:pt x="609600" y="474226"/>
                  <a:pt x="609600" y="495300"/>
                </a:cubicBezTo>
                <a:cubicBezTo>
                  <a:pt x="609600" y="516374"/>
                  <a:pt x="592574" y="533400"/>
                  <a:pt x="571500" y="533400"/>
                </a:cubicBezTo>
                <a:lnTo>
                  <a:pt x="228600" y="533400"/>
                </a:lnTo>
                <a:cubicBezTo>
                  <a:pt x="207526" y="533400"/>
                  <a:pt x="190500" y="516374"/>
                  <a:pt x="190500" y="495300"/>
                </a:cubicBezTo>
                <a:close/>
                <a:moveTo>
                  <a:pt x="76200" y="447675"/>
                </a:moveTo>
                <a:cubicBezTo>
                  <a:pt x="102485" y="447675"/>
                  <a:pt x="123825" y="469015"/>
                  <a:pt x="123825" y="495300"/>
                </a:cubicBezTo>
                <a:cubicBezTo>
                  <a:pt x="123825" y="521585"/>
                  <a:pt x="102485" y="542925"/>
                  <a:pt x="76200" y="542925"/>
                </a:cubicBezTo>
                <a:cubicBezTo>
                  <a:pt x="49915" y="542925"/>
                  <a:pt x="28575" y="521585"/>
                  <a:pt x="28575" y="495300"/>
                </a:cubicBezTo>
                <a:cubicBezTo>
                  <a:pt x="28575" y="469015"/>
                  <a:pt x="49915" y="447675"/>
                  <a:pt x="76200" y="447675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21969" y="4742610"/>
            <a:ext cx="7175500" cy="355600"/>
          </a:xfrm>
          <a:prstGeom prst="rect">
            <a:avLst/>
          </a:prstGeom>
          <a:solidFill>
            <a:schemeClr val="bg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 Workflow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784600" y="6477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38125" y="57150"/>
                </a:moveTo>
                <a:lnTo>
                  <a:pt x="371475" y="57150"/>
                </a:lnTo>
                <a:cubicBezTo>
                  <a:pt x="376714" y="57150"/>
                  <a:pt x="381000" y="61436"/>
                  <a:pt x="381000" y="66675"/>
                </a:cubicBezTo>
                <a:lnTo>
                  <a:pt x="381000" y="114300"/>
                </a:lnTo>
                <a:lnTo>
                  <a:pt x="228600" y="114300"/>
                </a:lnTo>
                <a:lnTo>
                  <a:pt x="228600" y="66675"/>
                </a:lnTo>
                <a:cubicBezTo>
                  <a:pt x="228600" y="61436"/>
                  <a:pt x="232886" y="57150"/>
                  <a:pt x="238125" y="57150"/>
                </a:cubicBezTo>
                <a:close/>
                <a:moveTo>
                  <a:pt x="171450" y="66675"/>
                </a:moveTo>
                <a:lnTo>
                  <a:pt x="171450" y="114300"/>
                </a:lnTo>
                <a:lnTo>
                  <a:pt x="76200" y="114300"/>
                </a:lnTo>
                <a:cubicBezTo>
                  <a:pt x="34171" y="114300"/>
                  <a:pt x="0" y="148471"/>
                  <a:pt x="0" y="190500"/>
                </a:cubicBezTo>
                <a:lnTo>
                  <a:pt x="0" y="304800"/>
                </a:lnTo>
                <a:lnTo>
                  <a:pt x="609600" y="304800"/>
                </a:lnTo>
                <a:lnTo>
                  <a:pt x="609600" y="190500"/>
                </a:lnTo>
                <a:cubicBezTo>
                  <a:pt x="609600" y="148471"/>
                  <a:pt x="575429" y="114300"/>
                  <a:pt x="533400" y="114300"/>
                </a:cubicBezTo>
                <a:lnTo>
                  <a:pt x="438150" y="114300"/>
                </a:lnTo>
                <a:lnTo>
                  <a:pt x="438150" y="66675"/>
                </a:lnTo>
                <a:cubicBezTo>
                  <a:pt x="438150" y="29885"/>
                  <a:pt x="408265" y="0"/>
                  <a:pt x="371475" y="0"/>
                </a:cubicBezTo>
                <a:lnTo>
                  <a:pt x="238125" y="0"/>
                </a:lnTo>
                <a:cubicBezTo>
                  <a:pt x="201335" y="0"/>
                  <a:pt x="171450" y="29885"/>
                  <a:pt x="171450" y="66675"/>
                </a:cubicBezTo>
                <a:close/>
                <a:moveTo>
                  <a:pt x="609600" y="361950"/>
                </a:moveTo>
                <a:lnTo>
                  <a:pt x="381000" y="361950"/>
                </a:lnTo>
                <a:lnTo>
                  <a:pt x="381000" y="381000"/>
                </a:lnTo>
                <a:cubicBezTo>
                  <a:pt x="381000" y="402074"/>
                  <a:pt x="363974" y="419100"/>
                  <a:pt x="342900" y="419100"/>
                </a:cubicBezTo>
                <a:lnTo>
                  <a:pt x="266700" y="419100"/>
                </a:lnTo>
                <a:cubicBezTo>
                  <a:pt x="245626" y="419100"/>
                  <a:pt x="228600" y="402074"/>
                  <a:pt x="228600" y="381000"/>
                </a:cubicBezTo>
                <a:lnTo>
                  <a:pt x="228600" y="361950"/>
                </a:lnTo>
                <a:lnTo>
                  <a:pt x="0" y="361950"/>
                </a:ln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533400" y="571500"/>
                </a:lnTo>
                <a:cubicBezTo>
                  <a:pt x="575429" y="571500"/>
                  <a:pt x="609600" y="537329"/>
                  <a:pt x="609600" y="495300"/>
                </a:cubicBezTo>
                <a:lnTo>
                  <a:pt x="609600" y="361950"/>
                </a:ln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2274" y="8190127"/>
            <a:ext cx="7175500" cy="355600"/>
          </a:xfrm>
          <a:prstGeom prst="rect">
            <a:avLst/>
          </a:prstGeom>
          <a:solidFill>
            <a:schemeClr val="bg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Employer Portal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1264900" y="6477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381000" y="19050"/>
                </a:moveTo>
                <a:cubicBezTo>
                  <a:pt x="449341" y="19050"/>
                  <a:pt x="504825" y="74534"/>
                  <a:pt x="504825" y="142875"/>
                </a:cubicBezTo>
                <a:cubicBezTo>
                  <a:pt x="504825" y="211216"/>
                  <a:pt x="449341" y="266700"/>
                  <a:pt x="381000" y="266700"/>
                </a:cubicBezTo>
                <a:cubicBezTo>
                  <a:pt x="312659" y="266700"/>
                  <a:pt x="257175" y="211216"/>
                  <a:pt x="257175" y="142875"/>
                </a:cubicBezTo>
                <a:cubicBezTo>
                  <a:pt x="257175" y="74534"/>
                  <a:pt x="312659" y="19050"/>
                  <a:pt x="381000" y="19050"/>
                </a:cubicBezTo>
                <a:close/>
                <a:moveTo>
                  <a:pt x="114300" y="104775"/>
                </a:moveTo>
                <a:cubicBezTo>
                  <a:pt x="161613" y="104775"/>
                  <a:pt x="200025" y="143187"/>
                  <a:pt x="200025" y="190500"/>
                </a:cubicBezTo>
                <a:cubicBezTo>
                  <a:pt x="200025" y="237813"/>
                  <a:pt x="161613" y="276225"/>
                  <a:pt x="114300" y="276225"/>
                </a:cubicBezTo>
                <a:cubicBezTo>
                  <a:pt x="66987" y="276225"/>
                  <a:pt x="28575" y="237813"/>
                  <a:pt x="28575" y="190500"/>
                </a:cubicBezTo>
                <a:cubicBezTo>
                  <a:pt x="28575" y="143187"/>
                  <a:pt x="66987" y="104775"/>
                  <a:pt x="114300" y="104775"/>
                </a:cubicBezTo>
                <a:close/>
                <a:moveTo>
                  <a:pt x="0" y="495300"/>
                </a:moveTo>
                <a:cubicBezTo>
                  <a:pt x="0" y="411123"/>
                  <a:pt x="68223" y="342900"/>
                  <a:pt x="152400" y="342900"/>
                </a:cubicBezTo>
                <a:cubicBezTo>
                  <a:pt x="167640" y="342900"/>
                  <a:pt x="182404" y="345162"/>
                  <a:pt x="196334" y="349329"/>
                </a:cubicBezTo>
                <a:cubicBezTo>
                  <a:pt x="157163" y="393144"/>
                  <a:pt x="133350" y="451009"/>
                  <a:pt x="133350" y="514350"/>
                </a:cubicBezTo>
                <a:lnTo>
                  <a:pt x="133350" y="533400"/>
                </a:lnTo>
                <a:cubicBezTo>
                  <a:pt x="133350" y="546973"/>
                  <a:pt x="136208" y="559832"/>
                  <a:pt x="141327" y="571500"/>
                </a:cubicBezTo>
                <a:lnTo>
                  <a:pt x="38100" y="571500"/>
                </a:lnTo>
                <a:cubicBezTo>
                  <a:pt x="17026" y="571500"/>
                  <a:pt x="0" y="554474"/>
                  <a:pt x="0" y="533400"/>
                </a:cubicBezTo>
                <a:lnTo>
                  <a:pt x="0" y="495300"/>
                </a:lnTo>
                <a:close/>
                <a:moveTo>
                  <a:pt x="620673" y="571500"/>
                </a:moveTo>
                <a:cubicBezTo>
                  <a:pt x="625793" y="559832"/>
                  <a:pt x="628650" y="546973"/>
                  <a:pt x="628650" y="533400"/>
                </a:cubicBezTo>
                <a:lnTo>
                  <a:pt x="628650" y="514350"/>
                </a:lnTo>
                <a:cubicBezTo>
                  <a:pt x="628650" y="451009"/>
                  <a:pt x="604837" y="393144"/>
                  <a:pt x="565666" y="349329"/>
                </a:cubicBezTo>
                <a:cubicBezTo>
                  <a:pt x="579596" y="345162"/>
                  <a:pt x="594360" y="342900"/>
                  <a:pt x="609600" y="342900"/>
                </a:cubicBezTo>
                <a:cubicBezTo>
                  <a:pt x="693777" y="342900"/>
                  <a:pt x="762000" y="411123"/>
                  <a:pt x="762000" y="495300"/>
                </a:cubicBezTo>
                <a:lnTo>
                  <a:pt x="762000" y="533400"/>
                </a:lnTo>
                <a:cubicBezTo>
                  <a:pt x="762000" y="554474"/>
                  <a:pt x="744974" y="571500"/>
                  <a:pt x="723900" y="571500"/>
                </a:cubicBezTo>
                <a:lnTo>
                  <a:pt x="620673" y="571500"/>
                </a:lnTo>
                <a:close/>
                <a:moveTo>
                  <a:pt x="561975" y="190500"/>
                </a:moveTo>
                <a:cubicBezTo>
                  <a:pt x="561975" y="143187"/>
                  <a:pt x="600387" y="104775"/>
                  <a:pt x="647700" y="104775"/>
                </a:cubicBezTo>
                <a:cubicBezTo>
                  <a:pt x="695013" y="104775"/>
                  <a:pt x="733425" y="143187"/>
                  <a:pt x="733425" y="190500"/>
                </a:cubicBezTo>
                <a:cubicBezTo>
                  <a:pt x="733425" y="237813"/>
                  <a:pt x="695013" y="276225"/>
                  <a:pt x="647700" y="276225"/>
                </a:cubicBezTo>
                <a:cubicBezTo>
                  <a:pt x="600387" y="276225"/>
                  <a:pt x="561975" y="237813"/>
                  <a:pt x="561975" y="190500"/>
                </a:cubicBezTo>
                <a:close/>
                <a:moveTo>
                  <a:pt x="190500" y="514350"/>
                </a:moveTo>
                <a:cubicBezTo>
                  <a:pt x="190500" y="409099"/>
                  <a:pt x="275749" y="323850"/>
                  <a:pt x="381000" y="323850"/>
                </a:cubicBezTo>
                <a:cubicBezTo>
                  <a:pt x="486251" y="323850"/>
                  <a:pt x="571500" y="409099"/>
                  <a:pt x="571500" y="514350"/>
                </a:cubicBezTo>
                <a:lnTo>
                  <a:pt x="571500" y="533400"/>
                </a:lnTo>
                <a:cubicBezTo>
                  <a:pt x="571500" y="554474"/>
                  <a:pt x="554474" y="571500"/>
                  <a:pt x="533400" y="571500"/>
                </a:cubicBezTo>
                <a:lnTo>
                  <a:pt x="228600" y="571500"/>
                </a:lnTo>
                <a:cubicBezTo>
                  <a:pt x="207526" y="571500"/>
                  <a:pt x="190500" y="554474"/>
                  <a:pt x="190500" y="533400"/>
                </a:cubicBezTo>
                <a:lnTo>
                  <a:pt x="190500" y="514350"/>
                </a:ln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07155" y="8190127"/>
            <a:ext cx="7175500" cy="355600"/>
          </a:xfrm>
          <a:prstGeom prst="rect">
            <a:avLst/>
          </a:prstGeom>
          <a:solidFill>
            <a:schemeClr val="bg2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Alumni Engagement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859000" y="87884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3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50800" cy="4572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5200" y="990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Demand Exists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7175500" cy="3048000"/>
          </a:xfrm>
          <a:prstGeom prst="rect">
            <a:avLst/>
          </a:prstGeom>
          <a:solidFill>
            <a:srgbClr val="0F0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222500"/>
            <a:ext cx="254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10M+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175000"/>
            <a:ext cx="6413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Graduates produced annually in India — a massive, growing talent pool needing structured placement support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18500" y="1968500"/>
            <a:ext cx="7175500" cy="3048000"/>
          </a:xfrm>
          <a:prstGeom prst="rect">
            <a:avLst/>
          </a:prstGeom>
          <a:solidFill>
            <a:srgbClr val="0F0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99500" y="2222500"/>
            <a:ext cx="254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99500" y="3175000"/>
            <a:ext cx="6413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2020 mandates robust placement cells — regulatory tailwind driving institutional investment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334000"/>
            <a:ext cx="7175500" cy="3048000"/>
          </a:xfrm>
          <a:prstGeom prst="rect">
            <a:avLst/>
          </a:prstGeom>
          <a:solidFill>
            <a:srgbClr val="0F0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5588000"/>
            <a:ext cx="3175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6540500"/>
            <a:ext cx="6413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hiring at top institutions now happens through alumni networks — a strategic asset awakening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18500" y="5334000"/>
            <a:ext cx="7175500" cy="3048000"/>
          </a:xfrm>
          <a:prstGeom prst="rect">
            <a:avLst/>
          </a:prstGeom>
          <a:solidFill>
            <a:srgbClr val="0F0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99500" y="5588000"/>
            <a:ext cx="3175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3.5x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99500" y="6540500"/>
            <a:ext cx="6413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EdTech adoption growth post-COVID — institutions are actively seeking digital transformation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859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3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50800" cy="4572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5200" y="990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5200" y="15494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A8A9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revenue streams for sustainable growth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4699000" cy="29210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4100" y="2514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0" y="266700"/>
                </a:moveTo>
                <a:cubicBezTo>
                  <a:pt x="0" y="329803"/>
                  <a:pt x="51197" y="381000"/>
                  <a:pt x="114300" y="381000"/>
                </a:cubicBezTo>
                <a:lnTo>
                  <a:pt x="355600" y="381000"/>
                </a:lnTo>
                <a:cubicBezTo>
                  <a:pt x="411718" y="381000"/>
                  <a:pt x="457200" y="335518"/>
                  <a:pt x="457200" y="279400"/>
                </a:cubicBezTo>
                <a:cubicBezTo>
                  <a:pt x="457200" y="238442"/>
                  <a:pt x="432991" y="203121"/>
                  <a:pt x="398066" y="187087"/>
                </a:cubicBezTo>
                <a:cubicBezTo>
                  <a:pt x="403384" y="176689"/>
                  <a:pt x="406400" y="164862"/>
                  <a:pt x="406400" y="152400"/>
                </a:cubicBezTo>
                <a:cubicBezTo>
                  <a:pt x="406400" y="110331"/>
                  <a:pt x="372269" y="76200"/>
                  <a:pt x="330200" y="76200"/>
                </a:cubicBezTo>
                <a:cubicBezTo>
                  <a:pt x="316151" y="76200"/>
                  <a:pt x="303054" y="80010"/>
                  <a:pt x="291783" y="86598"/>
                </a:cubicBezTo>
                <a:cubicBezTo>
                  <a:pt x="272653" y="50244"/>
                  <a:pt x="234474" y="25400"/>
                  <a:pt x="190500" y="25400"/>
                </a:cubicBezTo>
                <a:cubicBezTo>
                  <a:pt x="127397" y="25400"/>
                  <a:pt x="76200" y="76597"/>
                  <a:pt x="76200" y="139700"/>
                </a:cubicBezTo>
                <a:cubicBezTo>
                  <a:pt x="76200" y="146050"/>
                  <a:pt x="76756" y="152321"/>
                  <a:pt x="77708" y="158353"/>
                </a:cubicBezTo>
                <a:cubicBezTo>
                  <a:pt x="32544" y="173593"/>
                  <a:pt x="0" y="216376"/>
                  <a:pt x="0" y="266700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9500" y="3111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Annual SaaS Subscription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9500" y="3619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Recurring revenue from institutions for core platform access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2222500"/>
            <a:ext cx="4699000" cy="29210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45200" y="25146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96000" y="3111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Per-Student Licensing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96000" y="3619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pricing tied to enrollment — grows with the institution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2222500"/>
            <a:ext cx="4699000" cy="29210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087100" y="2514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112500" y="3111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Premium Employer Access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112500" y="3619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Featured listings and advanced candidate search for recruiters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76600" y="5461000"/>
            <a:ext cx="4699000" cy="29210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594100" y="5753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91294" y="69136"/>
                </a:moveTo>
                <a:lnTo>
                  <a:pt x="203200" y="85566"/>
                </a:lnTo>
                <a:lnTo>
                  <a:pt x="215106" y="69136"/>
                </a:lnTo>
                <a:cubicBezTo>
                  <a:pt x="234950" y="41672"/>
                  <a:pt x="266859" y="25400"/>
                  <a:pt x="300752" y="25400"/>
                </a:cubicBezTo>
                <a:cubicBezTo>
                  <a:pt x="359093" y="25400"/>
                  <a:pt x="406400" y="72708"/>
                  <a:pt x="406400" y="131048"/>
                </a:cubicBezTo>
                <a:lnTo>
                  <a:pt x="406400" y="133112"/>
                </a:lnTo>
                <a:cubicBezTo>
                  <a:pt x="406400" y="222171"/>
                  <a:pt x="295354" y="325596"/>
                  <a:pt x="237411" y="369808"/>
                </a:cubicBezTo>
                <a:cubicBezTo>
                  <a:pt x="227568" y="377269"/>
                  <a:pt x="215503" y="381000"/>
                  <a:pt x="203200" y="381000"/>
                </a:cubicBezTo>
                <a:cubicBezTo>
                  <a:pt x="190897" y="381000"/>
                  <a:pt x="178753" y="377349"/>
                  <a:pt x="168989" y="369808"/>
                </a:cubicBezTo>
                <a:cubicBezTo>
                  <a:pt x="111046" y="325596"/>
                  <a:pt x="0" y="222171"/>
                  <a:pt x="0" y="133112"/>
                </a:cubicBezTo>
                <a:lnTo>
                  <a:pt x="0" y="131048"/>
                </a:lnTo>
                <a:cubicBezTo>
                  <a:pt x="0" y="72708"/>
                  <a:pt x="47308" y="25400"/>
                  <a:pt x="105648" y="25400"/>
                </a:cubicBezTo>
                <a:cubicBezTo>
                  <a:pt x="139541" y="25400"/>
                  <a:pt x="171450" y="41672"/>
                  <a:pt x="191294" y="69136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94100" y="6350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Alumni Engagement Modules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594100" y="6858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Dedicated fundraising and mentorship tools for alumni relations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93100" y="5461000"/>
            <a:ext cx="4699000" cy="29210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610600" y="5753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797" y="76200"/>
                </a:moveTo>
                <a:lnTo>
                  <a:pt x="25797" y="194866"/>
                </a:lnTo>
                <a:cubicBezTo>
                  <a:pt x="25797" y="208359"/>
                  <a:pt x="31115" y="221298"/>
                  <a:pt x="40640" y="230823"/>
                </a:cubicBezTo>
                <a:lnTo>
                  <a:pt x="193040" y="383223"/>
                </a:lnTo>
                <a:cubicBezTo>
                  <a:pt x="212884" y="403066"/>
                  <a:pt x="245031" y="403066"/>
                  <a:pt x="264874" y="383223"/>
                </a:cubicBezTo>
                <a:lnTo>
                  <a:pt x="383540" y="264557"/>
                </a:lnTo>
                <a:cubicBezTo>
                  <a:pt x="403384" y="244713"/>
                  <a:pt x="403384" y="212566"/>
                  <a:pt x="383540" y="192723"/>
                </a:cubicBezTo>
                <a:lnTo>
                  <a:pt x="231140" y="40323"/>
                </a:lnTo>
                <a:cubicBezTo>
                  <a:pt x="221615" y="30718"/>
                  <a:pt x="208756" y="25400"/>
                  <a:pt x="195263" y="25400"/>
                </a:cubicBezTo>
                <a:lnTo>
                  <a:pt x="76597" y="25400"/>
                </a:lnTo>
                <a:cubicBezTo>
                  <a:pt x="48578" y="25400"/>
                  <a:pt x="25797" y="48181"/>
                  <a:pt x="25797" y="76200"/>
                </a:cubicBezTo>
                <a:close/>
                <a:moveTo>
                  <a:pt x="114697" y="88900"/>
                </a:moveTo>
                <a:cubicBezTo>
                  <a:pt x="128716" y="88900"/>
                  <a:pt x="140097" y="100281"/>
                  <a:pt x="140097" y="114300"/>
                </a:cubicBezTo>
                <a:cubicBezTo>
                  <a:pt x="140097" y="128319"/>
                  <a:pt x="128716" y="139700"/>
                  <a:pt x="114697" y="139700"/>
                </a:cubicBezTo>
                <a:cubicBezTo>
                  <a:pt x="100678" y="139700"/>
                  <a:pt x="89297" y="128319"/>
                  <a:pt x="89297" y="114300"/>
                </a:cubicBezTo>
                <a:cubicBezTo>
                  <a:pt x="89297" y="100281"/>
                  <a:pt x="100678" y="88900"/>
                  <a:pt x="114697" y="88900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10600" y="6350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White-Label Deployments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610600" y="6858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Custom-branded solutions for large university systems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859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3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50800" cy="4572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5200" y="990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Progress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14732000" cy="10160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2349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78000" y="2222500"/>
            <a:ext cx="133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Functional platform built</a:t>
            </a:r>
            <a:r>
              <a:rPr lang="en-US" sz="2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core product ready for deployment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302000"/>
            <a:ext cx="14732000" cy="10160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3000" y="3619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78000" y="3492500"/>
            <a:ext cx="133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workflows validated</a:t>
            </a:r>
            <a:r>
              <a:rPr lang="en-US" sz="2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placement and alumni modules tested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572000"/>
            <a:ext cx="14732000" cy="1016000"/>
          </a:xfrm>
          <a:prstGeom prst="rect">
            <a:avLst/>
          </a:prstGeom>
          <a:solidFill>
            <a:srgbClr val="1A1A2E">
              <a:alpha val="5098"/>
            </a:srgbClr>
          </a:solidFill>
          <a:ln w="12700">
            <a:solidFill>
              <a:srgbClr val="1A1A2E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43000" y="4889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78000" y="4762500"/>
            <a:ext cx="133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deployment completed</a:t>
            </a:r>
            <a:r>
              <a:rPr lang="en-US" sz="2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live and scalable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842000"/>
            <a:ext cx="14732000" cy="1016000"/>
          </a:xfrm>
          <a:prstGeom prst="rect">
            <a:avLst/>
          </a:prstGeom>
          <a:solidFill>
            <a:srgbClr val="D4A853">
              <a:alpha val="6275"/>
            </a:srgbClr>
          </a:solidFill>
          <a:ln w="12700">
            <a:solidFill>
              <a:srgbClr val="D4A853">
                <a:alpha val="18824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43000" y="6159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ubicBezTo>
                  <a:pt x="0" y="85360"/>
                  <a:pt x="85360" y="0"/>
                  <a:pt x="190500" y="0"/>
                </a:cubicBezTo>
                <a:close/>
                <a:moveTo>
                  <a:pt x="172641" y="89297"/>
                </a:moveTo>
                <a:lnTo>
                  <a:pt x="172641" y="190500"/>
                </a:lnTo>
                <a:cubicBezTo>
                  <a:pt x="172641" y="196453"/>
                  <a:pt x="175617" y="202034"/>
                  <a:pt x="180603" y="205383"/>
                </a:cubicBezTo>
                <a:lnTo>
                  <a:pt x="252040" y="253008"/>
                </a:lnTo>
                <a:cubicBezTo>
                  <a:pt x="260226" y="258514"/>
                  <a:pt x="271314" y="256282"/>
                  <a:pt x="276820" y="248022"/>
                </a:cubicBezTo>
                <a:cubicBezTo>
                  <a:pt x="282327" y="239762"/>
                  <a:pt x="280095" y="228749"/>
                  <a:pt x="271835" y="223242"/>
                </a:cubicBezTo>
                <a:lnTo>
                  <a:pt x="208359" y="180975"/>
                </a:lnTo>
                <a:lnTo>
                  <a:pt x="208359" y="89297"/>
                </a:lnTo>
                <a:cubicBezTo>
                  <a:pt x="208359" y="79400"/>
                  <a:pt x="200397" y="71438"/>
                  <a:pt x="190500" y="71438"/>
                </a:cubicBezTo>
                <a:cubicBezTo>
                  <a:pt x="180603" y="71438"/>
                  <a:pt x="172641" y="79400"/>
                  <a:pt x="172641" y="89297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78000" y="6032500"/>
            <a:ext cx="133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 institutions being pursued</a:t>
            </a:r>
            <a:r>
              <a:rPr lang="en-US" sz="2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active conversations with 3+ premier colleges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7112000"/>
            <a:ext cx="14732000" cy="1016000"/>
          </a:xfrm>
          <a:prstGeom prst="rect">
            <a:avLst/>
          </a:prstGeom>
          <a:solidFill>
            <a:srgbClr val="D4A853">
              <a:alpha val="6275"/>
            </a:srgbClr>
          </a:solidFill>
          <a:ln w="12700">
            <a:solidFill>
              <a:srgbClr val="D4A853">
                <a:alpha val="18824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43000" y="7429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ubicBezTo>
                  <a:pt x="0" y="85360"/>
                  <a:pt x="85360" y="0"/>
                  <a:pt x="190500" y="0"/>
                </a:cubicBezTo>
                <a:close/>
                <a:moveTo>
                  <a:pt x="172641" y="89297"/>
                </a:moveTo>
                <a:lnTo>
                  <a:pt x="172641" y="190500"/>
                </a:lnTo>
                <a:cubicBezTo>
                  <a:pt x="172641" y="196453"/>
                  <a:pt x="175617" y="202034"/>
                  <a:pt x="180603" y="205383"/>
                </a:cubicBezTo>
                <a:lnTo>
                  <a:pt x="252040" y="253008"/>
                </a:lnTo>
                <a:cubicBezTo>
                  <a:pt x="260226" y="258514"/>
                  <a:pt x="271314" y="256282"/>
                  <a:pt x="276820" y="248022"/>
                </a:cubicBezTo>
                <a:cubicBezTo>
                  <a:pt x="282327" y="239762"/>
                  <a:pt x="280095" y="228749"/>
                  <a:pt x="271835" y="223242"/>
                </a:cubicBezTo>
                <a:lnTo>
                  <a:pt x="208359" y="180975"/>
                </a:lnTo>
                <a:lnTo>
                  <a:pt x="208359" y="89297"/>
                </a:lnTo>
                <a:cubicBezTo>
                  <a:pt x="208359" y="79400"/>
                  <a:pt x="200397" y="71438"/>
                  <a:pt x="190500" y="71438"/>
                </a:cubicBezTo>
                <a:cubicBezTo>
                  <a:pt x="180603" y="71438"/>
                  <a:pt x="172641" y="79400"/>
                  <a:pt x="172641" y="89297"/>
                </a:cubicBezTo>
                <a:close/>
              </a:path>
            </a:pathLst>
          </a:cu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78000" y="7302500"/>
            <a:ext cx="133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hardening underway</a:t>
            </a:r>
            <a:r>
              <a:rPr lang="en-US" sz="20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security audits and performance optimization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859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3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50800" cy="457200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5200" y="9906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Go-To-Market Strategy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24000" y="2743200"/>
            <a:ext cx="0" cy="736600"/>
          </a:xfrm>
          <a:prstGeom prst="straightConnector1">
            <a:avLst/>
          </a:prstGeom>
          <a:noFill/>
          <a:ln w="25400">
            <a:solidFill>
              <a:srgbClr val="1A1A2E">
                <a:alpha val="1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24000" y="3886200"/>
            <a:ext cx="0" cy="736600"/>
          </a:xfrm>
          <a:prstGeom prst="straightConnector1">
            <a:avLst/>
          </a:prstGeom>
          <a:noFill/>
          <a:ln w="25400">
            <a:solidFill>
              <a:srgbClr val="1A1A2E">
                <a:alpha val="1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24000" y="5029200"/>
            <a:ext cx="0" cy="736600"/>
          </a:xfrm>
          <a:prstGeom prst="straightConnector1">
            <a:avLst/>
          </a:prstGeom>
          <a:noFill/>
          <a:ln w="25400">
            <a:solidFill>
              <a:srgbClr val="1A1A2E">
                <a:alpha val="1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24000" y="6172200"/>
            <a:ext cx="0" cy="736600"/>
          </a:xfrm>
          <a:prstGeom prst="straightConnector1">
            <a:avLst/>
          </a:prstGeom>
          <a:noFill/>
          <a:ln w="25400">
            <a:solidFill>
              <a:srgbClr val="1A1A2E">
                <a:alpha val="1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20800" y="2336800"/>
            <a:ext cx="406400" cy="406400"/>
          </a:xfrm>
          <a:prstGeom prst="ellipse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0800" y="23368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0F0F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32000" y="22987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Premier Institutions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32000" y="2743200"/>
            <a:ext cx="1295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top-tier colleges with strong placement track records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20800" y="3479800"/>
            <a:ext cx="406400" cy="406400"/>
          </a:xfrm>
          <a:prstGeom prst="ellipse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20800" y="34798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0F0F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2000" y="34417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Pilot Deployment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32000" y="3886200"/>
            <a:ext cx="1295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 2-3 pilot institutions in the first 6 months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20800" y="4622800"/>
            <a:ext cx="406400" cy="406400"/>
          </a:xfrm>
          <a:prstGeom prst="ellipse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20800" y="46228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0F0F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32000" y="45847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Case Studies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032000" y="5029200"/>
            <a:ext cx="1295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measurable outcomes from pilot programs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20800" y="5765800"/>
            <a:ext cx="406400" cy="406400"/>
          </a:xfrm>
          <a:prstGeom prst="ellipse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20800" y="57658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0F0F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32000" y="57277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 Through Referrals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032000" y="6172200"/>
            <a:ext cx="1295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 institutional networks for organic growth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20800" y="6908800"/>
            <a:ext cx="406400" cy="406400"/>
          </a:xfrm>
          <a:prstGeom prst="ellipse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20800" y="69088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0F0F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32000" y="68707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Nationally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032000" y="7315200"/>
            <a:ext cx="1295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to 50+ institutions within 24 months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859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889000"/>
            <a:ext cx="2540000" cy="0"/>
          </a:xfrm>
          <a:prstGeom prst="straightConnector1">
            <a:avLst/>
          </a:prstGeom>
          <a:noFill/>
          <a:ln w="25400">
            <a:solidFill>
              <a:srgbClr val="D4A85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18000" y="1143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kern="0" spc="4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SEED FUNDING ROUND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1651000"/>
            <a:ext cx="1016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kern="0" spc="20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₹50 </a:t>
            </a:r>
            <a:r>
              <a:rPr lang="en-US" sz="7200" kern="0" spc="2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Lakh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23000" y="3048000"/>
            <a:ext cx="3810000" cy="0"/>
          </a:xfrm>
          <a:prstGeom prst="straightConnector1">
            <a:avLst/>
          </a:prstGeom>
          <a:noFill/>
          <a:ln w="12700">
            <a:solidFill>
              <a:srgbClr val="8A8A9A">
                <a:alpha val="25098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53000" y="33655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83000" y="4000500"/>
            <a:ext cx="88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refinement · Intern support · Institutional outreach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 deployments · Infrastructure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23000" y="6731000"/>
            <a:ext cx="3810000" cy="0"/>
          </a:xfrm>
          <a:prstGeom prst="straightConnector1">
            <a:avLst/>
          </a:prstGeom>
          <a:noFill/>
          <a:ln w="12700">
            <a:solidFill>
              <a:srgbClr val="8A8A9A">
                <a:alpha val="25098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48000" y="6985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8A8A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 Secure first institutional deployment and establish commercial traction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13000" y="812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kern="0" spc="300" dirty="0">
                <a:solidFill>
                  <a:srgbClr val="D4A8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859000" y="8636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51" y="572281"/>
            <a:ext cx="11427768" cy="533296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670429" y="526570"/>
            <a:ext cx="11610612" cy="6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FOUNDER BACKGROUND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1851" y="1169096"/>
            <a:ext cx="634908" cy="38093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761851" y="1353179"/>
            <a:ext cx="13967304" cy="476157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1350"/>
          </a:p>
        </p:txBody>
      </p:sp>
      <p:sp>
        <p:nvSpPr>
          <p:cNvPr id="6" name="Text 4"/>
          <p:cNvSpPr/>
          <p:nvPr/>
        </p:nvSpPr>
        <p:spPr>
          <a:xfrm>
            <a:off x="670429" y="1307468"/>
            <a:ext cx="14150148" cy="563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30+ years of leadership across staffing, campus engagement, and talent development.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61852" y="2000752"/>
            <a:ext cx="14729155" cy="857083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1142777" y="2095983"/>
            <a:ext cx="13967304" cy="6666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1051355" y="2050272"/>
            <a:ext cx="14150148" cy="758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50" i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"Experienced leader in staffing, campus engagement, talent development, and large-scale program delivery with 30+ years of industry experience."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61851" y="3143529"/>
            <a:ext cx="7047124" cy="514249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1" name="Shape 9"/>
          <p:cNvSpPr/>
          <p:nvPr/>
        </p:nvSpPr>
        <p:spPr>
          <a:xfrm>
            <a:off x="761851" y="3143530"/>
            <a:ext cx="7047124" cy="50758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1066592" y="3391131"/>
            <a:ext cx="355499" cy="355499"/>
          </a:xfrm>
          <a:custGeom>
            <a:avLst/>
            <a:gdLst/>
            <a:ahLst/>
            <a:cxnLst/>
            <a:rect l="l" t="t" r="r" b="b"/>
            <a:pathLst>
              <a:path w="474091" h="474091">
                <a:moveTo>
                  <a:pt x="237046" y="474091"/>
                </a:moveTo>
                <a:cubicBezTo>
                  <a:pt x="367874" y="474091"/>
                  <a:pt x="474091" y="367874"/>
                  <a:pt x="474091" y="237046"/>
                </a:cubicBezTo>
                <a:cubicBezTo>
                  <a:pt x="474091" y="106217"/>
                  <a:pt x="367874" y="0"/>
                  <a:pt x="237046" y="0"/>
                </a:cubicBezTo>
                <a:cubicBezTo>
                  <a:pt x="106217" y="0"/>
                  <a:pt x="0" y="106217"/>
                  <a:pt x="0" y="237046"/>
                </a:cubicBezTo>
                <a:cubicBezTo>
                  <a:pt x="0" y="367874"/>
                  <a:pt x="106217" y="474091"/>
                  <a:pt x="237046" y="474091"/>
                </a:cubicBezTo>
                <a:close/>
                <a:moveTo>
                  <a:pt x="237046" y="71060"/>
                </a:moveTo>
                <a:cubicBezTo>
                  <a:pt x="327975" y="71060"/>
                  <a:pt x="402231" y="145316"/>
                  <a:pt x="402231" y="236246"/>
                </a:cubicBezTo>
                <a:cubicBezTo>
                  <a:pt x="402231" y="327175"/>
                  <a:pt x="327975" y="401431"/>
                  <a:pt x="237046" y="401431"/>
                </a:cubicBezTo>
                <a:cubicBezTo>
                  <a:pt x="146116" y="401431"/>
                  <a:pt x="71860" y="327175"/>
                  <a:pt x="71860" y="236246"/>
                </a:cubicBezTo>
                <a:cubicBezTo>
                  <a:pt x="71860" y="145316"/>
                  <a:pt x="146116" y="71060"/>
                  <a:pt x="237046" y="71060"/>
                </a:cubicBezTo>
                <a:close/>
                <a:moveTo>
                  <a:pt x="237046" y="315794"/>
                </a:moveTo>
                <a:cubicBezTo>
                  <a:pt x="280182" y="315794"/>
                  <a:pt x="315794" y="280182"/>
                  <a:pt x="315794" y="237046"/>
                </a:cubicBezTo>
                <a:cubicBezTo>
                  <a:pt x="315794" y="193909"/>
                  <a:pt x="280182" y="158297"/>
                  <a:pt x="237046" y="158297"/>
                </a:cubicBezTo>
                <a:cubicBezTo>
                  <a:pt x="193909" y="158297"/>
                  <a:pt x="158297" y="193909"/>
                  <a:pt x="158297" y="237046"/>
                </a:cubicBezTo>
                <a:cubicBezTo>
                  <a:pt x="158297" y="280182"/>
                  <a:pt x="193909" y="315794"/>
                  <a:pt x="237046" y="315794"/>
                </a:cubicBezTo>
                <a:close/>
                <a:moveTo>
                  <a:pt x="237046" y="270909"/>
                </a:moveTo>
                <a:cubicBezTo>
                  <a:pt x="217555" y="270909"/>
                  <a:pt x="201849" y="255203"/>
                  <a:pt x="201849" y="237046"/>
                </a:cubicBezTo>
                <a:cubicBezTo>
                  <a:pt x="201849" y="218888"/>
                  <a:pt x="217555" y="203182"/>
                  <a:pt x="237046" y="203182"/>
                </a:cubicBezTo>
                <a:cubicBezTo>
                  <a:pt x="255203" y="203182"/>
                  <a:pt x="270909" y="218888"/>
                  <a:pt x="270909" y="237046"/>
                </a:cubicBezTo>
                <a:cubicBezTo>
                  <a:pt x="270909" y="255203"/>
                  <a:pt x="255203" y="270909"/>
                  <a:pt x="237046" y="270909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3" name="Shape 11"/>
          <p:cNvSpPr/>
          <p:nvPr/>
        </p:nvSpPr>
        <p:spPr>
          <a:xfrm>
            <a:off x="1523703" y="3391130"/>
            <a:ext cx="5999578" cy="380926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1432280" y="3345419"/>
            <a:ext cx="6186232" cy="472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Leadership &amp; Experience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066592" y="3905380"/>
            <a:ext cx="6437643" cy="419018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975170" y="3859669"/>
            <a:ext cx="6623058" cy="428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30+ years</a:t>
            </a: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leadership experience across enterprise and startup environments.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Led </a:t>
            </a:r>
            <a:r>
              <a:rPr lang="en-US" sz="15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recruitment, workforce planning, and talent acquisition</a:t>
            </a: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initiatives across multiple organizations.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and mentored </a:t>
            </a:r>
            <a:r>
              <a:rPr lang="en-US" sz="15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high-performing delivery, project, and operations teams</a:t>
            </a: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India and international markets.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scaled teams while maintaining delivery excellence, governance, and operational efficiency.</a:t>
            </a: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LinkedIn Profile: </a:t>
            </a: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3"/>
              </a:rPr>
              <a:t>https://www.linkedin.com/in/jain35/</a:t>
            </a:r>
            <a:endParaRPr lang="en-US" sz="1500" dirty="0">
              <a:solidFill>
                <a:srgbClr val="1E2D3D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Detailed Profile: </a:t>
            </a:r>
            <a:r>
              <a:rPr lang="en-US" sz="1500" dirty="0">
                <a:hlinkClick r:id="rId4"/>
              </a:rPr>
              <a:t>Summary | Sandeep Jain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89901" y="3143529"/>
            <a:ext cx="7301106" cy="514249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18" name="Shape 16"/>
          <p:cNvSpPr/>
          <p:nvPr/>
        </p:nvSpPr>
        <p:spPr>
          <a:xfrm>
            <a:off x="8189901" y="3143530"/>
            <a:ext cx="7301106" cy="50758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9" name="Shape 17"/>
          <p:cNvSpPr/>
          <p:nvPr/>
        </p:nvSpPr>
        <p:spPr>
          <a:xfrm>
            <a:off x="8494641" y="3391131"/>
            <a:ext cx="355499" cy="355499"/>
          </a:xfrm>
          <a:custGeom>
            <a:avLst/>
            <a:gdLst/>
            <a:ahLst/>
            <a:cxnLst/>
            <a:rect l="l" t="t" r="r" b="b"/>
            <a:pathLst>
              <a:path w="474091" h="474091">
                <a:moveTo>
                  <a:pt x="255354" y="-12038"/>
                </a:moveTo>
                <a:cubicBezTo>
                  <a:pt x="243289" y="-14167"/>
                  <a:pt x="230908" y="-14167"/>
                  <a:pt x="218844" y="-12038"/>
                </a:cubicBezTo>
                <a:lnTo>
                  <a:pt x="20424" y="22686"/>
                </a:lnTo>
                <a:cubicBezTo>
                  <a:pt x="8572" y="24723"/>
                  <a:pt x="0" y="33890"/>
                  <a:pt x="0" y="44446"/>
                </a:cubicBezTo>
                <a:cubicBezTo>
                  <a:pt x="0" y="53984"/>
                  <a:pt x="6878" y="62317"/>
                  <a:pt x="16931" y="65373"/>
                </a:cubicBezTo>
                <a:lnTo>
                  <a:pt x="16931" y="133338"/>
                </a:lnTo>
                <a:lnTo>
                  <a:pt x="317" y="206119"/>
                </a:lnTo>
                <a:cubicBezTo>
                  <a:pt x="106" y="206952"/>
                  <a:pt x="0" y="207878"/>
                  <a:pt x="0" y="208804"/>
                </a:cubicBezTo>
                <a:cubicBezTo>
                  <a:pt x="0" y="216212"/>
                  <a:pt x="6878" y="222322"/>
                  <a:pt x="15450" y="222322"/>
                </a:cubicBezTo>
                <a:lnTo>
                  <a:pt x="52383" y="222322"/>
                </a:lnTo>
                <a:cubicBezTo>
                  <a:pt x="60849" y="222322"/>
                  <a:pt x="67833" y="216304"/>
                  <a:pt x="67833" y="208804"/>
                </a:cubicBezTo>
                <a:cubicBezTo>
                  <a:pt x="67833" y="207878"/>
                  <a:pt x="67727" y="207045"/>
                  <a:pt x="67516" y="206119"/>
                </a:cubicBezTo>
                <a:lnTo>
                  <a:pt x="50796" y="133338"/>
                </a:lnTo>
                <a:lnTo>
                  <a:pt x="50796" y="71577"/>
                </a:lnTo>
                <a:lnTo>
                  <a:pt x="101591" y="80466"/>
                </a:lnTo>
                <a:lnTo>
                  <a:pt x="101591" y="133338"/>
                </a:lnTo>
                <a:cubicBezTo>
                  <a:pt x="101591" y="198803"/>
                  <a:pt x="162228" y="251861"/>
                  <a:pt x="237046" y="251861"/>
                </a:cubicBezTo>
                <a:cubicBezTo>
                  <a:pt x="311863" y="251861"/>
                  <a:pt x="372500" y="198803"/>
                  <a:pt x="372500" y="133338"/>
                </a:cubicBezTo>
                <a:lnTo>
                  <a:pt x="372500" y="80466"/>
                </a:lnTo>
                <a:lnTo>
                  <a:pt x="453667" y="66299"/>
                </a:lnTo>
                <a:cubicBezTo>
                  <a:pt x="465519" y="64169"/>
                  <a:pt x="474091" y="55002"/>
                  <a:pt x="474091" y="44446"/>
                </a:cubicBezTo>
                <a:cubicBezTo>
                  <a:pt x="474091" y="33890"/>
                  <a:pt x="465519" y="24723"/>
                  <a:pt x="453667" y="22686"/>
                </a:cubicBezTo>
                <a:lnTo>
                  <a:pt x="255354" y="-12038"/>
                </a:lnTo>
                <a:close/>
                <a:moveTo>
                  <a:pt x="237046" y="207415"/>
                </a:moveTo>
                <a:cubicBezTo>
                  <a:pt x="190271" y="207415"/>
                  <a:pt x="152387" y="174266"/>
                  <a:pt x="152387" y="133338"/>
                </a:cubicBezTo>
                <a:lnTo>
                  <a:pt x="321704" y="133338"/>
                </a:lnTo>
                <a:cubicBezTo>
                  <a:pt x="321704" y="174266"/>
                  <a:pt x="283820" y="207415"/>
                  <a:pt x="237046" y="207415"/>
                </a:cubicBezTo>
                <a:close/>
                <a:moveTo>
                  <a:pt x="127095" y="296399"/>
                </a:moveTo>
                <a:cubicBezTo>
                  <a:pt x="62118" y="322511"/>
                  <a:pt x="16931" y="379921"/>
                  <a:pt x="16931" y="446590"/>
                </a:cubicBezTo>
                <a:cubicBezTo>
                  <a:pt x="16931" y="461776"/>
                  <a:pt x="31006" y="474091"/>
                  <a:pt x="48361" y="474091"/>
                </a:cubicBezTo>
                <a:lnTo>
                  <a:pt x="211648" y="474091"/>
                </a:lnTo>
                <a:lnTo>
                  <a:pt x="211648" y="338902"/>
                </a:lnTo>
                <a:lnTo>
                  <a:pt x="150905" y="299084"/>
                </a:lnTo>
                <a:cubicBezTo>
                  <a:pt x="144026" y="294548"/>
                  <a:pt x="134820" y="293344"/>
                  <a:pt x="126988" y="296492"/>
                </a:cubicBezTo>
                <a:close/>
                <a:moveTo>
                  <a:pt x="262443" y="474091"/>
                </a:moveTo>
                <a:lnTo>
                  <a:pt x="425730" y="474091"/>
                </a:lnTo>
                <a:cubicBezTo>
                  <a:pt x="443085" y="474091"/>
                  <a:pt x="457160" y="461776"/>
                  <a:pt x="457160" y="446590"/>
                </a:cubicBezTo>
                <a:cubicBezTo>
                  <a:pt x="457160" y="379921"/>
                  <a:pt x="411973" y="322511"/>
                  <a:pt x="346996" y="296492"/>
                </a:cubicBezTo>
                <a:cubicBezTo>
                  <a:pt x="339165" y="293344"/>
                  <a:pt x="329959" y="294548"/>
                  <a:pt x="323081" y="299084"/>
                </a:cubicBezTo>
                <a:lnTo>
                  <a:pt x="262338" y="338902"/>
                </a:lnTo>
                <a:lnTo>
                  <a:pt x="262338" y="474091"/>
                </a:lnTo>
                <a:close/>
              </a:path>
            </a:pathLst>
          </a:custGeom>
          <a:solidFill>
            <a:srgbClr val="1E2D3D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0" name="Shape 18"/>
          <p:cNvSpPr/>
          <p:nvPr/>
        </p:nvSpPr>
        <p:spPr>
          <a:xfrm>
            <a:off x="8951752" y="3391130"/>
            <a:ext cx="5999578" cy="380926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1350"/>
          </a:p>
        </p:txBody>
      </p:sp>
      <p:sp>
        <p:nvSpPr>
          <p:cNvPr id="21" name="Text 19"/>
          <p:cNvSpPr/>
          <p:nvPr/>
        </p:nvSpPr>
        <p:spPr>
          <a:xfrm>
            <a:off x="8860329" y="3345419"/>
            <a:ext cx="6186232" cy="472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Campus &amp; Talent Focus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494641" y="3905380"/>
            <a:ext cx="6666198" cy="419018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1350"/>
          </a:p>
        </p:txBody>
      </p:sp>
      <p:sp>
        <p:nvSpPr>
          <p:cNvPr id="23" name="Text 21"/>
          <p:cNvSpPr/>
          <p:nvPr/>
        </p:nvSpPr>
        <p:spPr>
          <a:xfrm>
            <a:off x="8403219" y="3859669"/>
            <a:ext cx="6851614" cy="428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and executed </a:t>
            </a:r>
            <a:r>
              <a:rPr lang="en-US" sz="15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campus hiring and internship engagement programs</a:t>
            </a: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collaborating with colleges to identify, recruit, and develop early-career talent.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Extensive experience in </a:t>
            </a:r>
            <a:r>
              <a:rPr lang="en-US" sz="15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internship programs, campus hiring, and industry-academia engagement</a:t>
            </a: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focus on </a:t>
            </a:r>
            <a:r>
              <a:rPr lang="en-US" sz="15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development, performance management, and leadership coaching</a:t>
            </a: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</a:t>
            </a:r>
            <a:r>
              <a:rPr lang="en-US" sz="15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people leadership, project delivery, and product management</a:t>
            </a:r>
            <a:r>
              <a:rPr lang="en-US" sz="15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expertise to drive organizational growth.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61852" y="8635238"/>
            <a:ext cx="14729155" cy="25427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25" name="Shape 23"/>
          <p:cNvSpPr/>
          <p:nvPr/>
        </p:nvSpPr>
        <p:spPr>
          <a:xfrm>
            <a:off x="13459340" y="8736755"/>
            <a:ext cx="2031571" cy="25398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1350"/>
          </a:p>
        </p:txBody>
      </p:sp>
      <p:sp>
        <p:nvSpPr>
          <p:cNvPr id="26" name="Text 24"/>
          <p:cNvSpPr/>
          <p:nvPr/>
        </p:nvSpPr>
        <p:spPr>
          <a:xfrm>
            <a:off x="13367918" y="8691044"/>
            <a:ext cx="2214416" cy="3454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97" kern="0" spc="2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297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732</Words>
  <Application>Microsoft Office PowerPoint</Application>
  <PresentationFormat>Custom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Quattrocento Sans</vt:lpstr>
      <vt:lpstr>QuattrocentoSans</vt:lpstr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PlacementHub Pitch Deck</dc:title>
  <dc:subject>PlacementHub Pitch Deck</dc:subject>
  <dc:creator>Kimi</dc:creator>
  <cp:lastModifiedBy>Sandeep Jain</cp:lastModifiedBy>
  <cp:revision>4</cp:revision>
  <dcterms:created xsi:type="dcterms:W3CDTF">2026-06-10T15:27:04Z</dcterms:created>
  <dcterms:modified xsi:type="dcterms:W3CDTF">2026-07-06T09:07:46Z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{"Label":"PlacementHub Pitch Deck","ContentProducer":"001191110108MACG2KBH8F10000","ProduceID":"19eb2247-b0a2-8abb-8000-0000c829ae23","ReservedCode1":"","ContentPropagator":"001191110108MACG2KBH8F20000","PropagateID":"19eb2247-b0a2-8abb-8000-0000c829ae23","ReservedCode2":""}</vt:lpwstr>
  </property>
</Properties>
</file>