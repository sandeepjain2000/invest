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21678900" cy="12192000"/>
  <p:notesSz cx="12192000" cy="21678900"/>
  <p:embeddedFontLst>
    <p:embeddedFont>
      <p:font typeface="Liter" panose="020B0604020202020204" charset="0"/>
      <p:regular r:id="rId17"/>
    </p:embeddedFont>
    <p:embeddedFont>
      <p:font typeface="Quattrocento Sans" panose="020B0502050000020003" pitchFamily="34" charset="0"/>
      <p:regular r:id="rId18"/>
      <p:bold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7" d="100"/>
          <a:sy n="47" d="100"/>
        </p:scale>
        <p:origin x="6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80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jain35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jainsandeep729.wixsite.com/website/about-5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mpus-placement-omega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b2fq63el4tjc/mnt/agents/output/placementhub_converted/images/image_1.png"/>
          <p:cNvPicPr>
            <a:picLocks noChangeAspect="1"/>
          </p:cNvPicPr>
          <p:nvPr/>
        </p:nvPicPr>
        <p:blipFill>
          <a:blip r:embed="rId3"/>
          <a:srcRect l="1440" r="1440"/>
          <a:stretch/>
        </p:blipFill>
        <p:spPr>
          <a:xfrm>
            <a:off x="0" y="0"/>
            <a:ext cx="21674709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1674709" cy="12192000"/>
          </a:xfrm>
          <a:prstGeom prst="rect">
            <a:avLst/>
          </a:prstGeom>
          <a:gradFill flip="none" rotWithShape="1">
            <a:gsLst>
              <a:gs pos="0">
                <a:srgbClr val="1E2D3D">
                  <a:alpha val="95000"/>
                </a:srgbClr>
              </a:gs>
              <a:gs pos="55000">
                <a:srgbClr val="1E2D3D">
                  <a:alpha val="85000"/>
                </a:srgbClr>
              </a:gs>
              <a:gs pos="100000">
                <a:srgbClr val="1E2D3D">
                  <a:alpha val="50000"/>
                </a:srgbClr>
              </a:gs>
            </a:gsLst>
            <a:lin ang="0" scaled="1"/>
          </a:gra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354709" y="3302000"/>
            <a:ext cx="1016000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354709" y="3640709"/>
            <a:ext cx="11853291" cy="1185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32789" y="3579749"/>
            <a:ext cx="12097131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930" kern="0" spc="533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6930" dirty="0"/>
          </a:p>
        </p:txBody>
      </p:sp>
      <p:sp>
        <p:nvSpPr>
          <p:cNvPr id="7" name="Shape 4"/>
          <p:cNvSpPr/>
          <p:nvPr/>
        </p:nvSpPr>
        <p:spPr>
          <a:xfrm>
            <a:off x="1354709" y="4995291"/>
            <a:ext cx="11853291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232789" y="4934331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9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Operating System for Campus Placements &amp; Industry Engagement</a:t>
            </a:r>
            <a:endParaRPr lang="en-US" sz="2930" dirty="0"/>
          </a:p>
        </p:txBody>
      </p:sp>
      <p:sp>
        <p:nvSpPr>
          <p:cNvPr id="9" name="Shape 6"/>
          <p:cNvSpPr/>
          <p:nvPr/>
        </p:nvSpPr>
        <p:spPr>
          <a:xfrm>
            <a:off x="1354709" y="5926709"/>
            <a:ext cx="10160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232789" y="5865749"/>
            <a:ext cx="10403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multi-tenant SaaS platform connecting colleges, students, and employers through a single workflow.</a:t>
            </a:r>
            <a:endParaRPr lang="en-US" sz="2130" dirty="0"/>
          </a:p>
        </p:txBody>
      </p:sp>
      <p:sp>
        <p:nvSpPr>
          <p:cNvPr id="11" name="Shape 8"/>
          <p:cNvSpPr/>
          <p:nvPr/>
        </p:nvSpPr>
        <p:spPr>
          <a:xfrm>
            <a:off x="1354709" y="7281291"/>
            <a:ext cx="8466709" cy="16891"/>
          </a:xfrm>
          <a:prstGeom prst="rect">
            <a:avLst/>
          </a:prstGeom>
          <a:solidFill>
            <a:srgbClr val="F5F3EF">
              <a:alpha val="35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354709" y="7620000"/>
            <a:ext cx="8466709" cy="1354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32789" y="7559040"/>
            <a:ext cx="871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7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Sandbox Environment</a:t>
            </a:r>
            <a:r>
              <a:rPr lang="en-US" sz="187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June 2026</a:t>
            </a:r>
            <a:endParaRPr lang="en-US" sz="1870" dirty="0"/>
          </a:p>
          <a:p>
            <a:pPr algn="l">
              <a:lnSpc>
                <a:spcPct val="180000"/>
              </a:lnSpc>
            </a:pPr>
            <a:r>
              <a:rPr lang="en-US" sz="187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[Your Name]  |  [Demo URL]  |  [Email]</a:t>
            </a:r>
            <a:endParaRPr lang="en-US" sz="1870" dirty="0"/>
          </a:p>
        </p:txBody>
      </p:sp>
      <p:sp>
        <p:nvSpPr>
          <p:cNvPr id="14" name="Shape 11"/>
          <p:cNvSpPr/>
          <p:nvPr/>
        </p:nvSpPr>
        <p:spPr>
          <a:xfrm>
            <a:off x="1354709" y="11176000"/>
            <a:ext cx="5080000" cy="3724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32789" y="11115040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730" kern="0" spc="267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PLACEMENTHUB.IO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 BACKGROUND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03400"/>
            <a:ext cx="18626709" cy="635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742440"/>
            <a:ext cx="18870549" cy="75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years of leadership across staffing, campus engagement, and talent development.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16000" y="2667000"/>
            <a:ext cx="19642709" cy="1143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24000" y="2794000"/>
            <a:ext cx="18626709" cy="889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02080" y="2733040"/>
            <a:ext cx="18870549" cy="1010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"Experienced leader in staffing, campus engagement, talent development, and large-scale program delivery with 30+ years of industry experience."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16000" y="4191000"/>
            <a:ext cx="9398000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6000" y="4191000"/>
            <a:ext cx="9398000" cy="67691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22400" y="4521200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37046" y="474091"/>
                </a:moveTo>
                <a:cubicBezTo>
                  <a:pt x="367874" y="474091"/>
                  <a:pt x="474091" y="367874"/>
                  <a:pt x="474091" y="237046"/>
                </a:cubicBezTo>
                <a:cubicBezTo>
                  <a:pt x="474091" y="106217"/>
                  <a:pt x="367874" y="0"/>
                  <a:pt x="237046" y="0"/>
                </a:cubicBezTo>
                <a:cubicBezTo>
                  <a:pt x="106217" y="0"/>
                  <a:pt x="0" y="106217"/>
                  <a:pt x="0" y="237046"/>
                </a:cubicBezTo>
                <a:cubicBezTo>
                  <a:pt x="0" y="367874"/>
                  <a:pt x="106217" y="474091"/>
                  <a:pt x="237046" y="474091"/>
                </a:cubicBezTo>
                <a:close/>
                <a:moveTo>
                  <a:pt x="237046" y="71060"/>
                </a:moveTo>
                <a:cubicBezTo>
                  <a:pt x="327975" y="71060"/>
                  <a:pt x="402231" y="145316"/>
                  <a:pt x="402231" y="236246"/>
                </a:cubicBezTo>
                <a:cubicBezTo>
                  <a:pt x="402231" y="327175"/>
                  <a:pt x="327975" y="401431"/>
                  <a:pt x="237046" y="401431"/>
                </a:cubicBezTo>
                <a:cubicBezTo>
                  <a:pt x="146116" y="401431"/>
                  <a:pt x="71860" y="327175"/>
                  <a:pt x="71860" y="236246"/>
                </a:cubicBezTo>
                <a:cubicBezTo>
                  <a:pt x="71860" y="145316"/>
                  <a:pt x="146116" y="71060"/>
                  <a:pt x="237046" y="71060"/>
                </a:cubicBezTo>
                <a:close/>
                <a:moveTo>
                  <a:pt x="237046" y="315794"/>
                </a:moveTo>
                <a:cubicBezTo>
                  <a:pt x="280182" y="315794"/>
                  <a:pt x="315794" y="280182"/>
                  <a:pt x="315794" y="237046"/>
                </a:cubicBezTo>
                <a:cubicBezTo>
                  <a:pt x="315794" y="193909"/>
                  <a:pt x="280182" y="158297"/>
                  <a:pt x="237046" y="158297"/>
                </a:cubicBezTo>
                <a:cubicBezTo>
                  <a:pt x="193909" y="158297"/>
                  <a:pt x="158297" y="193909"/>
                  <a:pt x="158297" y="237046"/>
                </a:cubicBezTo>
                <a:cubicBezTo>
                  <a:pt x="158297" y="280182"/>
                  <a:pt x="193909" y="315794"/>
                  <a:pt x="237046" y="315794"/>
                </a:cubicBezTo>
                <a:close/>
                <a:moveTo>
                  <a:pt x="237046" y="270909"/>
                </a:moveTo>
                <a:cubicBezTo>
                  <a:pt x="217555" y="270909"/>
                  <a:pt x="201849" y="255203"/>
                  <a:pt x="201849" y="237046"/>
                </a:cubicBezTo>
                <a:cubicBezTo>
                  <a:pt x="201849" y="218888"/>
                  <a:pt x="217555" y="203182"/>
                  <a:pt x="237046" y="203182"/>
                </a:cubicBezTo>
                <a:cubicBezTo>
                  <a:pt x="255203" y="203182"/>
                  <a:pt x="270909" y="218888"/>
                  <a:pt x="270909" y="237046"/>
                </a:cubicBezTo>
                <a:cubicBezTo>
                  <a:pt x="270909" y="255203"/>
                  <a:pt x="255203" y="270909"/>
                  <a:pt x="237046" y="270909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32000" y="4521200"/>
            <a:ext cx="8001000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10080" y="4460240"/>
            <a:ext cx="824992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 &amp; Experience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422400" y="5207000"/>
            <a:ext cx="8585200" cy="558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00480" y="5146040"/>
            <a:ext cx="8832469" cy="57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0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years</a:t>
            </a: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leadership experience across enterprise and startup environments.</a:t>
            </a:r>
            <a:endParaRPr lang="en-US" sz="2000" dirty="0"/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</a:t>
            </a:r>
            <a:r>
              <a:rPr lang="en-US" sz="20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recruitment, workforce planning, and talent acquisition</a:t>
            </a: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initiatives across multiple organizations.</a:t>
            </a:r>
            <a:endParaRPr lang="en-US" sz="2000" dirty="0"/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and mentored </a:t>
            </a:r>
            <a:r>
              <a:rPr lang="en-US" sz="20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high-performing delivery, project, and operations teams</a:t>
            </a: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India and international markets.</a:t>
            </a:r>
            <a:endParaRPr lang="en-US" sz="2000" dirty="0"/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scaled teams while maintaining delivery excellence, governance, and operational efficiency.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 Profile: </a:t>
            </a: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/>
              </a:rPr>
              <a:t>https://www.linkedin.com/in/jain35/</a:t>
            </a:r>
            <a:endParaRPr lang="en-US" sz="2000" dirty="0">
              <a:solidFill>
                <a:srgbClr val="1E2D3D"/>
              </a:solidFill>
              <a:latin typeface="Quattrocento Sans" pitchFamily="34" charset="0"/>
              <a:ea typeface="Quattrocento Sans" pitchFamily="34" charset="-122"/>
              <a:cs typeface="Quattrocento Sans" pitchFamily="34" charset="-120"/>
            </a:endParaRPr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Profile: </a:t>
            </a:r>
            <a:r>
              <a:rPr lang="en-US" sz="2000" dirty="0">
                <a:hlinkClick r:id="rId4"/>
              </a:rPr>
              <a:t>Summary | Sandeep Jain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922000" y="4191000"/>
            <a:ext cx="9736709" cy="6858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22000" y="4191000"/>
            <a:ext cx="9736709" cy="676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328400" y="4521200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55354" y="-12038"/>
                </a:moveTo>
                <a:cubicBezTo>
                  <a:pt x="243289" y="-14167"/>
                  <a:pt x="230908" y="-14167"/>
                  <a:pt x="218844" y="-12038"/>
                </a:cubicBezTo>
                <a:lnTo>
                  <a:pt x="20424" y="22686"/>
                </a:lnTo>
                <a:cubicBezTo>
                  <a:pt x="8572" y="24723"/>
                  <a:pt x="0" y="33890"/>
                  <a:pt x="0" y="44446"/>
                </a:cubicBezTo>
                <a:cubicBezTo>
                  <a:pt x="0" y="53984"/>
                  <a:pt x="6878" y="62317"/>
                  <a:pt x="16931" y="65373"/>
                </a:cubicBezTo>
                <a:lnTo>
                  <a:pt x="16931" y="133338"/>
                </a:lnTo>
                <a:lnTo>
                  <a:pt x="317" y="206119"/>
                </a:lnTo>
                <a:cubicBezTo>
                  <a:pt x="106" y="206952"/>
                  <a:pt x="0" y="207878"/>
                  <a:pt x="0" y="208804"/>
                </a:cubicBezTo>
                <a:cubicBezTo>
                  <a:pt x="0" y="216212"/>
                  <a:pt x="6878" y="222322"/>
                  <a:pt x="15450" y="222322"/>
                </a:cubicBezTo>
                <a:lnTo>
                  <a:pt x="52383" y="222322"/>
                </a:lnTo>
                <a:cubicBezTo>
                  <a:pt x="60849" y="222322"/>
                  <a:pt x="67833" y="216304"/>
                  <a:pt x="67833" y="208804"/>
                </a:cubicBezTo>
                <a:cubicBezTo>
                  <a:pt x="67833" y="207878"/>
                  <a:pt x="67727" y="207045"/>
                  <a:pt x="67516" y="206119"/>
                </a:cubicBezTo>
                <a:lnTo>
                  <a:pt x="50796" y="133338"/>
                </a:lnTo>
                <a:lnTo>
                  <a:pt x="50796" y="71577"/>
                </a:lnTo>
                <a:lnTo>
                  <a:pt x="101591" y="80466"/>
                </a:lnTo>
                <a:lnTo>
                  <a:pt x="101591" y="133338"/>
                </a:lnTo>
                <a:cubicBezTo>
                  <a:pt x="101591" y="198803"/>
                  <a:pt x="162228" y="251861"/>
                  <a:pt x="237046" y="251861"/>
                </a:cubicBezTo>
                <a:cubicBezTo>
                  <a:pt x="311863" y="251861"/>
                  <a:pt x="372500" y="198803"/>
                  <a:pt x="372500" y="133338"/>
                </a:cubicBezTo>
                <a:lnTo>
                  <a:pt x="372500" y="80466"/>
                </a:lnTo>
                <a:lnTo>
                  <a:pt x="453667" y="66299"/>
                </a:lnTo>
                <a:cubicBezTo>
                  <a:pt x="465519" y="64169"/>
                  <a:pt x="474091" y="55002"/>
                  <a:pt x="474091" y="44446"/>
                </a:cubicBezTo>
                <a:cubicBezTo>
                  <a:pt x="474091" y="33890"/>
                  <a:pt x="465519" y="24723"/>
                  <a:pt x="453667" y="22686"/>
                </a:cubicBezTo>
                <a:lnTo>
                  <a:pt x="255354" y="-12038"/>
                </a:lnTo>
                <a:close/>
                <a:moveTo>
                  <a:pt x="237046" y="207415"/>
                </a:moveTo>
                <a:cubicBezTo>
                  <a:pt x="190271" y="207415"/>
                  <a:pt x="152387" y="174266"/>
                  <a:pt x="152387" y="133338"/>
                </a:cubicBezTo>
                <a:lnTo>
                  <a:pt x="321704" y="133338"/>
                </a:lnTo>
                <a:cubicBezTo>
                  <a:pt x="321704" y="174266"/>
                  <a:pt x="283820" y="207415"/>
                  <a:pt x="237046" y="207415"/>
                </a:cubicBezTo>
                <a:close/>
                <a:moveTo>
                  <a:pt x="127095" y="296399"/>
                </a:moveTo>
                <a:cubicBezTo>
                  <a:pt x="62118" y="322511"/>
                  <a:pt x="16931" y="379921"/>
                  <a:pt x="16931" y="446590"/>
                </a:cubicBezTo>
                <a:cubicBezTo>
                  <a:pt x="16931" y="461776"/>
                  <a:pt x="31006" y="474091"/>
                  <a:pt x="48361" y="474091"/>
                </a:cubicBezTo>
                <a:lnTo>
                  <a:pt x="211648" y="474091"/>
                </a:lnTo>
                <a:lnTo>
                  <a:pt x="211648" y="338902"/>
                </a:lnTo>
                <a:lnTo>
                  <a:pt x="150905" y="299084"/>
                </a:lnTo>
                <a:cubicBezTo>
                  <a:pt x="144026" y="294548"/>
                  <a:pt x="134820" y="293344"/>
                  <a:pt x="126988" y="296492"/>
                </a:cubicBezTo>
                <a:close/>
                <a:moveTo>
                  <a:pt x="262443" y="474091"/>
                </a:moveTo>
                <a:lnTo>
                  <a:pt x="425730" y="474091"/>
                </a:lnTo>
                <a:cubicBezTo>
                  <a:pt x="443085" y="474091"/>
                  <a:pt x="457160" y="461776"/>
                  <a:pt x="457160" y="446590"/>
                </a:cubicBezTo>
                <a:cubicBezTo>
                  <a:pt x="457160" y="379921"/>
                  <a:pt x="411973" y="322511"/>
                  <a:pt x="346996" y="296492"/>
                </a:cubicBezTo>
                <a:cubicBezTo>
                  <a:pt x="339165" y="293344"/>
                  <a:pt x="329959" y="294548"/>
                  <a:pt x="323081" y="299084"/>
                </a:cubicBezTo>
                <a:lnTo>
                  <a:pt x="262338" y="338902"/>
                </a:lnTo>
                <a:lnTo>
                  <a:pt x="262338" y="474091"/>
                </a:ln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938000" y="4521200"/>
            <a:ext cx="8001000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16080" y="4460240"/>
            <a:ext cx="824992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40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Campus &amp; Talent Focus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1328400" y="5207000"/>
            <a:ext cx="8890000" cy="558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206480" y="5146040"/>
            <a:ext cx="9137269" cy="570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and executed </a:t>
            </a:r>
            <a:r>
              <a:rPr lang="en-US" sz="20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campus hiring and internship engagement programs</a:t>
            </a: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collaborating with colleges to identify, recruit, and develop early-career talent.</a:t>
            </a:r>
            <a:endParaRPr lang="en-US" sz="2000" dirty="0"/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Extensive experience in </a:t>
            </a:r>
            <a:r>
              <a:rPr lang="en-US" sz="20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internship programs, campus hiring, and industry-academia engagement</a:t>
            </a: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focus on </a:t>
            </a:r>
            <a:r>
              <a:rPr lang="en-US" sz="20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development, performance management, and leadership coaching</a:t>
            </a: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000" dirty="0"/>
          </a:p>
          <a:p>
            <a:pPr algn="l">
              <a:lnSpc>
                <a:spcPct val="170000"/>
              </a:lnSpc>
            </a:pP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</a:t>
            </a:r>
            <a:r>
              <a:rPr lang="en-US" sz="20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 leadership, project delivery, and product management</a:t>
            </a:r>
            <a:r>
              <a:rPr lang="en-US" sz="20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expertise to drive organizational growth.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 MANAGEMENT IS STILL FRAGMENTED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947291"/>
            <a:ext cx="11853291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86331"/>
            <a:ext cx="1209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institutions manage placements through a combination of: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16000" y="2709291"/>
            <a:ext cx="19642709" cy="93129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54709" y="2709291"/>
            <a:ext cx="18965291" cy="931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32789" y="2648331"/>
            <a:ext cx="19209131" cy="1053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Email Communications       </a:t>
            </a: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Excel Spreadsheets       </a:t>
            </a: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WhatsApp Groups       </a:t>
            </a: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Shared Drives       </a:t>
            </a: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Standalone Job Portals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16000" y="4148709"/>
            <a:ext cx="50800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4080" y="4087749"/>
            <a:ext cx="53238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2670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Creates Challenges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016000" y="4995291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37046" y="474091"/>
                </a:moveTo>
                <a:cubicBezTo>
                  <a:pt x="367874" y="474091"/>
                  <a:pt x="474091" y="367874"/>
                  <a:pt x="474091" y="237046"/>
                </a:cubicBezTo>
                <a:cubicBezTo>
                  <a:pt x="474091" y="106217"/>
                  <a:pt x="367874" y="0"/>
                  <a:pt x="237046" y="0"/>
                </a:cubicBezTo>
                <a:cubicBezTo>
                  <a:pt x="106217" y="0"/>
                  <a:pt x="0" y="106217"/>
                  <a:pt x="0" y="237046"/>
                </a:cubicBezTo>
                <a:cubicBezTo>
                  <a:pt x="0" y="367874"/>
                  <a:pt x="106217" y="474091"/>
                  <a:pt x="237046" y="474091"/>
                </a:cubicBezTo>
                <a:close/>
                <a:moveTo>
                  <a:pt x="154636" y="154636"/>
                </a:moveTo>
                <a:cubicBezTo>
                  <a:pt x="163339" y="145931"/>
                  <a:pt x="177413" y="145931"/>
                  <a:pt x="186025" y="154636"/>
                </a:cubicBezTo>
                <a:lnTo>
                  <a:pt x="236954" y="205563"/>
                </a:lnTo>
                <a:lnTo>
                  <a:pt x="287881" y="154636"/>
                </a:lnTo>
                <a:cubicBezTo>
                  <a:pt x="296584" y="145931"/>
                  <a:pt x="310659" y="145931"/>
                  <a:pt x="319270" y="154636"/>
                </a:cubicBezTo>
                <a:cubicBezTo>
                  <a:pt x="327883" y="163339"/>
                  <a:pt x="327975" y="177413"/>
                  <a:pt x="319270" y="186025"/>
                </a:cubicBezTo>
                <a:lnTo>
                  <a:pt x="268343" y="236954"/>
                </a:lnTo>
                <a:lnTo>
                  <a:pt x="319270" y="287881"/>
                </a:lnTo>
                <a:cubicBezTo>
                  <a:pt x="327975" y="296584"/>
                  <a:pt x="327975" y="310659"/>
                  <a:pt x="319270" y="319270"/>
                </a:cubicBezTo>
                <a:cubicBezTo>
                  <a:pt x="310567" y="327883"/>
                  <a:pt x="296492" y="327975"/>
                  <a:pt x="287881" y="319270"/>
                </a:cubicBezTo>
                <a:lnTo>
                  <a:pt x="236954" y="268343"/>
                </a:lnTo>
                <a:lnTo>
                  <a:pt x="186025" y="319270"/>
                </a:lnTo>
                <a:cubicBezTo>
                  <a:pt x="177321" y="327975"/>
                  <a:pt x="163247" y="327975"/>
                  <a:pt x="154636" y="319270"/>
                </a:cubicBezTo>
                <a:cubicBezTo>
                  <a:pt x="146024" y="310567"/>
                  <a:pt x="145931" y="296492"/>
                  <a:pt x="154636" y="287881"/>
                </a:cubicBezTo>
                <a:lnTo>
                  <a:pt x="205563" y="236954"/>
                </a:lnTo>
                <a:lnTo>
                  <a:pt x="154636" y="186025"/>
                </a:lnTo>
                <a:cubicBezTo>
                  <a:pt x="145931" y="177321"/>
                  <a:pt x="145931" y="163247"/>
                  <a:pt x="154636" y="154636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93291" y="4944491"/>
            <a:ext cx="8466709" cy="110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71371" y="4883531"/>
            <a:ext cx="8710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miss updates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important deadlines and communications get lost across channels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16000" y="6350000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37046" y="474091"/>
                </a:moveTo>
                <a:cubicBezTo>
                  <a:pt x="367874" y="474091"/>
                  <a:pt x="474091" y="367874"/>
                  <a:pt x="474091" y="237046"/>
                </a:cubicBezTo>
                <a:cubicBezTo>
                  <a:pt x="474091" y="106217"/>
                  <a:pt x="367874" y="0"/>
                  <a:pt x="237046" y="0"/>
                </a:cubicBezTo>
                <a:cubicBezTo>
                  <a:pt x="106217" y="0"/>
                  <a:pt x="0" y="106217"/>
                  <a:pt x="0" y="237046"/>
                </a:cubicBezTo>
                <a:cubicBezTo>
                  <a:pt x="0" y="367874"/>
                  <a:pt x="106217" y="474091"/>
                  <a:pt x="237046" y="474091"/>
                </a:cubicBezTo>
                <a:close/>
                <a:moveTo>
                  <a:pt x="154636" y="154636"/>
                </a:moveTo>
                <a:cubicBezTo>
                  <a:pt x="163339" y="145931"/>
                  <a:pt x="177413" y="145931"/>
                  <a:pt x="186025" y="154636"/>
                </a:cubicBezTo>
                <a:lnTo>
                  <a:pt x="236954" y="205563"/>
                </a:lnTo>
                <a:lnTo>
                  <a:pt x="287881" y="154636"/>
                </a:lnTo>
                <a:cubicBezTo>
                  <a:pt x="296584" y="145931"/>
                  <a:pt x="310659" y="145931"/>
                  <a:pt x="319270" y="154636"/>
                </a:cubicBezTo>
                <a:cubicBezTo>
                  <a:pt x="327883" y="163339"/>
                  <a:pt x="327975" y="177413"/>
                  <a:pt x="319270" y="186025"/>
                </a:cubicBezTo>
                <a:lnTo>
                  <a:pt x="268343" y="236954"/>
                </a:lnTo>
                <a:lnTo>
                  <a:pt x="319270" y="287881"/>
                </a:lnTo>
                <a:cubicBezTo>
                  <a:pt x="327975" y="296584"/>
                  <a:pt x="327975" y="310659"/>
                  <a:pt x="319270" y="319270"/>
                </a:cubicBezTo>
                <a:cubicBezTo>
                  <a:pt x="310567" y="327883"/>
                  <a:pt x="296492" y="327975"/>
                  <a:pt x="287881" y="319270"/>
                </a:cubicBezTo>
                <a:lnTo>
                  <a:pt x="236954" y="268343"/>
                </a:lnTo>
                <a:lnTo>
                  <a:pt x="186025" y="319270"/>
                </a:lnTo>
                <a:cubicBezTo>
                  <a:pt x="177321" y="327975"/>
                  <a:pt x="163247" y="327975"/>
                  <a:pt x="154636" y="319270"/>
                </a:cubicBezTo>
                <a:cubicBezTo>
                  <a:pt x="146024" y="310567"/>
                  <a:pt x="145931" y="296492"/>
                  <a:pt x="154636" y="287881"/>
                </a:cubicBezTo>
                <a:lnTo>
                  <a:pt x="205563" y="236954"/>
                </a:lnTo>
                <a:lnTo>
                  <a:pt x="154636" y="186025"/>
                </a:lnTo>
                <a:cubicBezTo>
                  <a:pt x="145931" y="177321"/>
                  <a:pt x="145931" y="163247"/>
                  <a:pt x="154636" y="154636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693291" y="6299200"/>
            <a:ext cx="8466709" cy="110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71371" y="6238240"/>
            <a:ext cx="8710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Employers repeat efforts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same coordination work with each institution, every season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837291" y="4995291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37046" y="474091"/>
                </a:moveTo>
                <a:cubicBezTo>
                  <a:pt x="367874" y="474091"/>
                  <a:pt x="474091" y="367874"/>
                  <a:pt x="474091" y="237046"/>
                </a:cubicBezTo>
                <a:cubicBezTo>
                  <a:pt x="474091" y="106217"/>
                  <a:pt x="367874" y="0"/>
                  <a:pt x="237046" y="0"/>
                </a:cubicBezTo>
                <a:cubicBezTo>
                  <a:pt x="106217" y="0"/>
                  <a:pt x="0" y="106217"/>
                  <a:pt x="0" y="237046"/>
                </a:cubicBezTo>
                <a:cubicBezTo>
                  <a:pt x="0" y="367874"/>
                  <a:pt x="106217" y="474091"/>
                  <a:pt x="237046" y="474091"/>
                </a:cubicBezTo>
                <a:close/>
                <a:moveTo>
                  <a:pt x="154636" y="154636"/>
                </a:moveTo>
                <a:cubicBezTo>
                  <a:pt x="163339" y="145931"/>
                  <a:pt x="177413" y="145931"/>
                  <a:pt x="186025" y="154636"/>
                </a:cubicBezTo>
                <a:lnTo>
                  <a:pt x="236954" y="205563"/>
                </a:lnTo>
                <a:lnTo>
                  <a:pt x="287881" y="154636"/>
                </a:lnTo>
                <a:cubicBezTo>
                  <a:pt x="296584" y="145931"/>
                  <a:pt x="310659" y="145931"/>
                  <a:pt x="319270" y="154636"/>
                </a:cubicBezTo>
                <a:cubicBezTo>
                  <a:pt x="327883" y="163339"/>
                  <a:pt x="327975" y="177413"/>
                  <a:pt x="319270" y="186025"/>
                </a:cubicBezTo>
                <a:lnTo>
                  <a:pt x="268343" y="236954"/>
                </a:lnTo>
                <a:lnTo>
                  <a:pt x="319270" y="287881"/>
                </a:lnTo>
                <a:cubicBezTo>
                  <a:pt x="327975" y="296584"/>
                  <a:pt x="327975" y="310659"/>
                  <a:pt x="319270" y="319270"/>
                </a:cubicBezTo>
                <a:cubicBezTo>
                  <a:pt x="310567" y="327883"/>
                  <a:pt x="296492" y="327975"/>
                  <a:pt x="287881" y="319270"/>
                </a:cubicBezTo>
                <a:lnTo>
                  <a:pt x="236954" y="268343"/>
                </a:lnTo>
                <a:lnTo>
                  <a:pt x="186025" y="319270"/>
                </a:lnTo>
                <a:cubicBezTo>
                  <a:pt x="177321" y="327975"/>
                  <a:pt x="163247" y="327975"/>
                  <a:pt x="154636" y="319270"/>
                </a:cubicBezTo>
                <a:cubicBezTo>
                  <a:pt x="146024" y="310567"/>
                  <a:pt x="145931" y="296492"/>
                  <a:pt x="154636" y="287881"/>
                </a:cubicBezTo>
                <a:lnTo>
                  <a:pt x="205563" y="236954"/>
                </a:lnTo>
                <a:lnTo>
                  <a:pt x="154636" y="186025"/>
                </a:lnTo>
                <a:cubicBezTo>
                  <a:pt x="145931" y="177321"/>
                  <a:pt x="145931" y="163247"/>
                  <a:pt x="154636" y="154636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514709" y="4944491"/>
            <a:ext cx="8466709" cy="110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392789" y="4883531"/>
            <a:ext cx="8710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administration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placement offices spend significant time on repetitive tasks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837291" y="6350000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37046" y="474091"/>
                </a:moveTo>
                <a:cubicBezTo>
                  <a:pt x="367874" y="474091"/>
                  <a:pt x="474091" y="367874"/>
                  <a:pt x="474091" y="237046"/>
                </a:cubicBezTo>
                <a:cubicBezTo>
                  <a:pt x="474091" y="106217"/>
                  <a:pt x="367874" y="0"/>
                  <a:pt x="237046" y="0"/>
                </a:cubicBezTo>
                <a:cubicBezTo>
                  <a:pt x="106217" y="0"/>
                  <a:pt x="0" y="106217"/>
                  <a:pt x="0" y="237046"/>
                </a:cubicBezTo>
                <a:cubicBezTo>
                  <a:pt x="0" y="367874"/>
                  <a:pt x="106217" y="474091"/>
                  <a:pt x="237046" y="474091"/>
                </a:cubicBezTo>
                <a:close/>
                <a:moveTo>
                  <a:pt x="154636" y="154636"/>
                </a:moveTo>
                <a:cubicBezTo>
                  <a:pt x="163339" y="145931"/>
                  <a:pt x="177413" y="145931"/>
                  <a:pt x="186025" y="154636"/>
                </a:cubicBezTo>
                <a:lnTo>
                  <a:pt x="236954" y="205563"/>
                </a:lnTo>
                <a:lnTo>
                  <a:pt x="287881" y="154636"/>
                </a:lnTo>
                <a:cubicBezTo>
                  <a:pt x="296584" y="145931"/>
                  <a:pt x="310659" y="145931"/>
                  <a:pt x="319270" y="154636"/>
                </a:cubicBezTo>
                <a:cubicBezTo>
                  <a:pt x="327883" y="163339"/>
                  <a:pt x="327975" y="177413"/>
                  <a:pt x="319270" y="186025"/>
                </a:cubicBezTo>
                <a:lnTo>
                  <a:pt x="268343" y="236954"/>
                </a:lnTo>
                <a:lnTo>
                  <a:pt x="319270" y="287881"/>
                </a:lnTo>
                <a:cubicBezTo>
                  <a:pt x="327975" y="296584"/>
                  <a:pt x="327975" y="310659"/>
                  <a:pt x="319270" y="319270"/>
                </a:cubicBezTo>
                <a:cubicBezTo>
                  <a:pt x="310567" y="327883"/>
                  <a:pt x="296492" y="327975"/>
                  <a:pt x="287881" y="319270"/>
                </a:cubicBezTo>
                <a:lnTo>
                  <a:pt x="236954" y="268343"/>
                </a:lnTo>
                <a:lnTo>
                  <a:pt x="186025" y="319270"/>
                </a:lnTo>
                <a:cubicBezTo>
                  <a:pt x="177321" y="327975"/>
                  <a:pt x="163247" y="327975"/>
                  <a:pt x="154636" y="319270"/>
                </a:cubicBezTo>
                <a:cubicBezTo>
                  <a:pt x="146024" y="310567"/>
                  <a:pt x="145931" y="296492"/>
                  <a:pt x="154636" y="287881"/>
                </a:cubicBezTo>
                <a:lnTo>
                  <a:pt x="205563" y="236954"/>
                </a:lnTo>
                <a:lnTo>
                  <a:pt x="154636" y="186025"/>
                </a:lnTo>
                <a:cubicBezTo>
                  <a:pt x="145931" y="177321"/>
                  <a:pt x="145931" y="163247"/>
                  <a:pt x="154636" y="154636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514709" y="6299200"/>
            <a:ext cx="8466709" cy="110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92789" y="6238240"/>
            <a:ext cx="8710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are hard to enforce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placement policies applied inconsistently across processes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016000" y="7704709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237046" y="474091"/>
                </a:moveTo>
                <a:cubicBezTo>
                  <a:pt x="367874" y="474091"/>
                  <a:pt x="474091" y="367874"/>
                  <a:pt x="474091" y="237046"/>
                </a:cubicBezTo>
                <a:cubicBezTo>
                  <a:pt x="474091" y="106217"/>
                  <a:pt x="367874" y="0"/>
                  <a:pt x="237046" y="0"/>
                </a:cubicBezTo>
                <a:cubicBezTo>
                  <a:pt x="106217" y="0"/>
                  <a:pt x="0" y="106217"/>
                  <a:pt x="0" y="237046"/>
                </a:cubicBezTo>
                <a:cubicBezTo>
                  <a:pt x="0" y="367874"/>
                  <a:pt x="106217" y="474091"/>
                  <a:pt x="237046" y="474091"/>
                </a:cubicBezTo>
                <a:close/>
                <a:moveTo>
                  <a:pt x="154636" y="154636"/>
                </a:moveTo>
                <a:cubicBezTo>
                  <a:pt x="163339" y="145931"/>
                  <a:pt x="177413" y="145931"/>
                  <a:pt x="186025" y="154636"/>
                </a:cubicBezTo>
                <a:lnTo>
                  <a:pt x="236954" y="205563"/>
                </a:lnTo>
                <a:lnTo>
                  <a:pt x="287881" y="154636"/>
                </a:lnTo>
                <a:cubicBezTo>
                  <a:pt x="296584" y="145931"/>
                  <a:pt x="310659" y="145931"/>
                  <a:pt x="319270" y="154636"/>
                </a:cubicBezTo>
                <a:cubicBezTo>
                  <a:pt x="327883" y="163339"/>
                  <a:pt x="327975" y="177413"/>
                  <a:pt x="319270" y="186025"/>
                </a:cubicBezTo>
                <a:lnTo>
                  <a:pt x="268343" y="236954"/>
                </a:lnTo>
                <a:lnTo>
                  <a:pt x="319270" y="287881"/>
                </a:lnTo>
                <a:cubicBezTo>
                  <a:pt x="327975" y="296584"/>
                  <a:pt x="327975" y="310659"/>
                  <a:pt x="319270" y="319270"/>
                </a:cubicBezTo>
                <a:cubicBezTo>
                  <a:pt x="310567" y="327883"/>
                  <a:pt x="296492" y="327975"/>
                  <a:pt x="287881" y="319270"/>
                </a:cubicBezTo>
                <a:lnTo>
                  <a:pt x="236954" y="268343"/>
                </a:lnTo>
                <a:lnTo>
                  <a:pt x="186025" y="319270"/>
                </a:lnTo>
                <a:cubicBezTo>
                  <a:pt x="177321" y="327975"/>
                  <a:pt x="163247" y="327975"/>
                  <a:pt x="154636" y="319270"/>
                </a:cubicBezTo>
                <a:cubicBezTo>
                  <a:pt x="146024" y="310567"/>
                  <a:pt x="145931" y="296492"/>
                  <a:pt x="154636" y="287881"/>
                </a:cubicBezTo>
                <a:lnTo>
                  <a:pt x="205563" y="236954"/>
                </a:lnTo>
                <a:lnTo>
                  <a:pt x="154636" y="186025"/>
                </a:lnTo>
                <a:cubicBezTo>
                  <a:pt x="145931" y="177321"/>
                  <a:pt x="145931" y="163247"/>
                  <a:pt x="154636" y="154636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93291" y="7653909"/>
            <a:ext cx="8466709" cy="110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71371" y="7592949"/>
            <a:ext cx="8710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400" b="1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reliable reporting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leadership lacks audit trails and data-driven insights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16000" y="9228709"/>
            <a:ext cx="19642709" cy="1524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524000" y="9398000"/>
            <a:ext cx="18626709" cy="1185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02080" y="9337040"/>
            <a:ext cx="18870549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"As placement activity grows, coordination becomes increasingly complex. Institutions need a structured system rather than a collection of disconnected tools."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6933291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7177131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EXISTING APPROACHES FALL SHORT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947291"/>
            <a:ext cx="11853291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86331"/>
            <a:ext cx="1209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tools. Multiple processes. Multiple sources of truth.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878709"/>
          <a:ext cx="19642709" cy="5926709"/>
        </p:xfrm>
        <a:graphic>
          <a:graphicData uri="http://schemas.openxmlformats.org/drawingml/2006/table">
            <a:tbl>
              <a:tblPr/>
              <a:tblGrid>
                <a:gridCol w="5499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9373">
                <a:tc>
                  <a:txBody>
                    <a:bodyPr/>
                    <a:lstStyle/>
                    <a:p>
                      <a:pPr algn="l"/>
                      <a:r>
                        <a:rPr lang="en-US" sz="2130" b="1" dirty="0">
                          <a:solidFill>
                            <a:srgbClr val="F5F3E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Current Approach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b="1" dirty="0">
                          <a:solidFill>
                            <a:srgbClr val="F5F3E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Limitation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467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Email &amp; Excel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Manual tracking and reporting — no automation, error-prone, version control issues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467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WhatsApp Groups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Information scattered across channels — no searchability, no audit trail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467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Generic Job Portals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designed for campus placement workflows — lack institutional controls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3467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ERP Placement Modules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Often limited employer engagement features — one-sided student management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3467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Separate Systems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Duplicate data entry and inconsistent records across platforms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016000" y="9398000"/>
            <a:ext cx="19642709" cy="1354709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524000" y="9567291"/>
            <a:ext cx="1693291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402080" y="9506331"/>
            <a:ext cx="1937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870" dirty="0"/>
          </a:p>
        </p:txBody>
      </p:sp>
      <p:sp>
        <p:nvSpPr>
          <p:cNvPr id="11" name="Shape 8"/>
          <p:cNvSpPr/>
          <p:nvPr/>
        </p:nvSpPr>
        <p:spPr>
          <a:xfrm>
            <a:off x="1524000" y="10024491"/>
            <a:ext cx="18626709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402080" y="9963531"/>
            <a:ext cx="1887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offices, employers, and students spend more time </a:t>
            </a:r>
            <a:r>
              <a:rPr lang="en-US" sz="24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coordinating</a:t>
            </a: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</a:t>
            </a:r>
            <a:r>
              <a:rPr lang="en-US" sz="24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executing</a:t>
            </a: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 — PLACEMENTHUB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96491"/>
            <a:ext cx="13546709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35531"/>
            <a:ext cx="1379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platform for the complete placement lifecycle.</a:t>
            </a:r>
            <a:endParaRPr lang="en-US" sz="2670" dirty="0"/>
          </a:p>
        </p:txBody>
      </p:sp>
      <p:sp>
        <p:nvSpPr>
          <p:cNvPr id="7" name="Shape 5"/>
          <p:cNvSpPr/>
          <p:nvPr/>
        </p:nvSpPr>
        <p:spPr>
          <a:xfrm>
            <a:off x="1016000" y="2794000"/>
            <a:ext cx="4572000" cy="6265291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6000" y="2794000"/>
            <a:ext cx="4572000" cy="67691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22400" y="3217291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91881" y="-13760"/>
                </a:moveTo>
                <a:cubicBezTo>
                  <a:pt x="278091" y="-16193"/>
                  <a:pt x="263939" y="-16193"/>
                  <a:pt x="250149" y="-13760"/>
                </a:cubicBezTo>
                <a:lnTo>
                  <a:pt x="23346" y="25931"/>
                </a:lnTo>
                <a:cubicBezTo>
                  <a:pt x="9798" y="28260"/>
                  <a:pt x="0" y="38738"/>
                  <a:pt x="0" y="50804"/>
                </a:cubicBezTo>
                <a:cubicBezTo>
                  <a:pt x="0" y="61706"/>
                  <a:pt x="7862" y="71231"/>
                  <a:pt x="19354" y="74725"/>
                </a:cubicBezTo>
                <a:lnTo>
                  <a:pt x="19354" y="152412"/>
                </a:lnTo>
                <a:lnTo>
                  <a:pt x="363" y="235604"/>
                </a:lnTo>
                <a:cubicBezTo>
                  <a:pt x="121" y="236556"/>
                  <a:pt x="0" y="237615"/>
                  <a:pt x="0" y="238673"/>
                </a:cubicBezTo>
                <a:cubicBezTo>
                  <a:pt x="0" y="247141"/>
                  <a:pt x="7862" y="254125"/>
                  <a:pt x="17660" y="254125"/>
                </a:cubicBezTo>
                <a:lnTo>
                  <a:pt x="59877" y="254125"/>
                </a:lnTo>
                <a:cubicBezTo>
                  <a:pt x="69553" y="254125"/>
                  <a:pt x="77537" y="247246"/>
                  <a:pt x="77537" y="238673"/>
                </a:cubicBezTo>
                <a:cubicBezTo>
                  <a:pt x="77537" y="237615"/>
                  <a:pt x="77415" y="236662"/>
                  <a:pt x="77174" y="235604"/>
                </a:cubicBezTo>
                <a:lnTo>
                  <a:pt x="58062" y="152412"/>
                </a:lnTo>
                <a:lnTo>
                  <a:pt x="58062" y="81816"/>
                </a:lnTo>
                <a:lnTo>
                  <a:pt x="116124" y="91977"/>
                </a:lnTo>
                <a:lnTo>
                  <a:pt x="116124" y="152412"/>
                </a:lnTo>
                <a:cubicBezTo>
                  <a:pt x="116124" y="227242"/>
                  <a:pt x="185434" y="287889"/>
                  <a:pt x="270955" y="287889"/>
                </a:cubicBezTo>
                <a:cubicBezTo>
                  <a:pt x="356475" y="287889"/>
                  <a:pt x="425785" y="227242"/>
                  <a:pt x="425785" y="152412"/>
                </a:cubicBezTo>
                <a:lnTo>
                  <a:pt x="425785" y="91977"/>
                </a:lnTo>
                <a:lnTo>
                  <a:pt x="518563" y="75783"/>
                </a:lnTo>
                <a:cubicBezTo>
                  <a:pt x="532111" y="73348"/>
                  <a:pt x="541909" y="62870"/>
                  <a:pt x="541909" y="50804"/>
                </a:cubicBezTo>
                <a:cubicBezTo>
                  <a:pt x="541909" y="38738"/>
                  <a:pt x="532111" y="28260"/>
                  <a:pt x="518563" y="25931"/>
                </a:cubicBezTo>
                <a:lnTo>
                  <a:pt x="291881" y="-13760"/>
                </a:lnTo>
                <a:close/>
                <a:moveTo>
                  <a:pt x="270955" y="237085"/>
                </a:moveTo>
                <a:cubicBezTo>
                  <a:pt x="217489" y="237085"/>
                  <a:pt x="174186" y="199194"/>
                  <a:pt x="174186" y="152412"/>
                </a:cubicBezTo>
                <a:lnTo>
                  <a:pt x="367723" y="152412"/>
                </a:lnTo>
                <a:cubicBezTo>
                  <a:pt x="367723" y="199194"/>
                  <a:pt x="324420" y="237085"/>
                  <a:pt x="270955" y="237085"/>
                </a:cubicBezTo>
                <a:close/>
                <a:moveTo>
                  <a:pt x="145275" y="338798"/>
                </a:moveTo>
                <a:cubicBezTo>
                  <a:pt x="71004" y="368646"/>
                  <a:pt x="19354" y="434269"/>
                  <a:pt x="19354" y="510475"/>
                </a:cubicBezTo>
                <a:cubicBezTo>
                  <a:pt x="19354" y="527832"/>
                  <a:pt x="35441" y="541909"/>
                  <a:pt x="55279" y="541909"/>
                </a:cubicBezTo>
                <a:lnTo>
                  <a:pt x="241924" y="541909"/>
                </a:lnTo>
                <a:lnTo>
                  <a:pt x="241924" y="387381"/>
                </a:lnTo>
                <a:lnTo>
                  <a:pt x="172492" y="341868"/>
                </a:lnTo>
                <a:cubicBezTo>
                  <a:pt x="164629" y="336682"/>
                  <a:pt x="154105" y="335306"/>
                  <a:pt x="145154" y="338905"/>
                </a:cubicBezTo>
                <a:close/>
                <a:moveTo>
                  <a:pt x="299985" y="541909"/>
                </a:moveTo>
                <a:lnTo>
                  <a:pt x="486630" y="541909"/>
                </a:lnTo>
                <a:cubicBezTo>
                  <a:pt x="506468" y="541909"/>
                  <a:pt x="522555" y="527832"/>
                  <a:pt x="522555" y="510475"/>
                </a:cubicBezTo>
                <a:cubicBezTo>
                  <a:pt x="522555" y="434269"/>
                  <a:pt x="470905" y="368646"/>
                  <a:pt x="396634" y="338905"/>
                </a:cubicBezTo>
                <a:cubicBezTo>
                  <a:pt x="387682" y="335306"/>
                  <a:pt x="377159" y="336682"/>
                  <a:pt x="369297" y="341868"/>
                </a:cubicBezTo>
                <a:lnTo>
                  <a:pt x="299865" y="387381"/>
                </a:lnTo>
                <a:lnTo>
                  <a:pt x="299865" y="541909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22400" y="3979291"/>
            <a:ext cx="37592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00480" y="3918331"/>
            <a:ext cx="40030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2670" dirty="0"/>
          </a:p>
        </p:txBody>
      </p:sp>
      <p:sp>
        <p:nvSpPr>
          <p:cNvPr id="12" name="Shape 10"/>
          <p:cNvSpPr/>
          <p:nvPr/>
        </p:nvSpPr>
        <p:spPr>
          <a:xfrm>
            <a:off x="1422400" y="4572000"/>
            <a:ext cx="3759200" cy="406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00480" y="4511040"/>
            <a:ext cx="4003040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Discover opportunities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Apply online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Track applications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interviews and offers</a:t>
            </a:r>
            <a:endParaRPr lang="en-US" sz="2130" dirty="0"/>
          </a:p>
        </p:txBody>
      </p:sp>
      <p:sp>
        <p:nvSpPr>
          <p:cNvPr id="14" name="Shape 12"/>
          <p:cNvSpPr/>
          <p:nvPr/>
        </p:nvSpPr>
        <p:spPr>
          <a:xfrm>
            <a:off x="6045200" y="2794000"/>
            <a:ext cx="4572000" cy="6265291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45200" y="2794000"/>
            <a:ext cx="4572000" cy="676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51600" y="3217291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87784" y="21380"/>
                </a:moveTo>
                <a:cubicBezTo>
                  <a:pt x="277411" y="15453"/>
                  <a:pt x="264603" y="15453"/>
                  <a:pt x="254125" y="21380"/>
                </a:cubicBezTo>
                <a:lnTo>
                  <a:pt x="17040" y="156858"/>
                </a:lnTo>
                <a:cubicBezTo>
                  <a:pt x="3704" y="164478"/>
                  <a:pt x="-2858" y="180142"/>
                  <a:pt x="1059" y="194961"/>
                </a:cubicBezTo>
                <a:cubicBezTo>
                  <a:pt x="4975" y="209778"/>
                  <a:pt x="18523" y="220151"/>
                  <a:pt x="33869" y="220151"/>
                </a:cubicBezTo>
                <a:lnTo>
                  <a:pt x="67739" y="220151"/>
                </a:lnTo>
                <a:lnTo>
                  <a:pt x="67739" y="440301"/>
                </a:lnTo>
                <a:lnTo>
                  <a:pt x="67739" y="440301"/>
                </a:lnTo>
                <a:lnTo>
                  <a:pt x="13548" y="480944"/>
                </a:lnTo>
                <a:cubicBezTo>
                  <a:pt x="4975" y="487294"/>
                  <a:pt x="0" y="497350"/>
                  <a:pt x="0" y="508040"/>
                </a:cubicBezTo>
                <a:cubicBezTo>
                  <a:pt x="0" y="526773"/>
                  <a:pt x="15136" y="541909"/>
                  <a:pt x="33869" y="541909"/>
                </a:cubicBezTo>
                <a:lnTo>
                  <a:pt x="508040" y="541909"/>
                </a:lnTo>
                <a:cubicBezTo>
                  <a:pt x="526773" y="541909"/>
                  <a:pt x="541909" y="526773"/>
                  <a:pt x="541909" y="508040"/>
                </a:cubicBezTo>
                <a:cubicBezTo>
                  <a:pt x="541909" y="497350"/>
                  <a:pt x="536934" y="487294"/>
                  <a:pt x="528361" y="480944"/>
                </a:cubicBezTo>
                <a:lnTo>
                  <a:pt x="474170" y="440301"/>
                </a:lnTo>
                <a:lnTo>
                  <a:pt x="474170" y="220151"/>
                </a:lnTo>
                <a:lnTo>
                  <a:pt x="508040" y="220151"/>
                </a:lnTo>
                <a:cubicBezTo>
                  <a:pt x="523386" y="220151"/>
                  <a:pt x="536829" y="209778"/>
                  <a:pt x="540745" y="194961"/>
                </a:cubicBezTo>
                <a:cubicBezTo>
                  <a:pt x="544661" y="180142"/>
                  <a:pt x="538099" y="164478"/>
                  <a:pt x="524762" y="156858"/>
                </a:cubicBezTo>
                <a:lnTo>
                  <a:pt x="287677" y="21380"/>
                </a:lnTo>
                <a:close/>
                <a:moveTo>
                  <a:pt x="423366" y="220151"/>
                </a:moveTo>
                <a:lnTo>
                  <a:pt x="423366" y="440301"/>
                </a:lnTo>
                <a:lnTo>
                  <a:pt x="355628" y="440301"/>
                </a:lnTo>
                <a:lnTo>
                  <a:pt x="355628" y="220151"/>
                </a:lnTo>
                <a:lnTo>
                  <a:pt x="423366" y="220151"/>
                </a:lnTo>
                <a:close/>
                <a:moveTo>
                  <a:pt x="304824" y="220151"/>
                </a:moveTo>
                <a:lnTo>
                  <a:pt x="304824" y="440301"/>
                </a:lnTo>
                <a:lnTo>
                  <a:pt x="237085" y="440301"/>
                </a:lnTo>
                <a:lnTo>
                  <a:pt x="237085" y="220151"/>
                </a:lnTo>
                <a:lnTo>
                  <a:pt x="304824" y="220151"/>
                </a:lnTo>
                <a:close/>
                <a:moveTo>
                  <a:pt x="186281" y="220151"/>
                </a:moveTo>
                <a:lnTo>
                  <a:pt x="186281" y="440301"/>
                </a:lnTo>
                <a:lnTo>
                  <a:pt x="118543" y="440301"/>
                </a:lnTo>
                <a:lnTo>
                  <a:pt x="118543" y="220151"/>
                </a:lnTo>
                <a:lnTo>
                  <a:pt x="186281" y="220151"/>
                </a:lnTo>
                <a:close/>
                <a:moveTo>
                  <a:pt x="270955" y="101608"/>
                </a:moveTo>
                <a:cubicBezTo>
                  <a:pt x="289648" y="101608"/>
                  <a:pt x="304824" y="116784"/>
                  <a:pt x="304824" y="135477"/>
                </a:cubicBezTo>
                <a:cubicBezTo>
                  <a:pt x="304824" y="154171"/>
                  <a:pt x="289648" y="169347"/>
                  <a:pt x="270955" y="169347"/>
                </a:cubicBezTo>
                <a:cubicBezTo>
                  <a:pt x="252261" y="169347"/>
                  <a:pt x="237085" y="154171"/>
                  <a:pt x="237085" y="135477"/>
                </a:cubicBezTo>
                <a:cubicBezTo>
                  <a:pt x="237085" y="116784"/>
                  <a:pt x="252261" y="101608"/>
                  <a:pt x="270955" y="101608"/>
                </a:cubicBez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51600" y="3979291"/>
            <a:ext cx="37592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9680" y="3918331"/>
            <a:ext cx="40030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 Office</a:t>
            </a:r>
            <a:endParaRPr lang="en-US" sz="2670" dirty="0"/>
          </a:p>
        </p:txBody>
      </p:sp>
      <p:sp>
        <p:nvSpPr>
          <p:cNvPr id="19" name="Shape 17"/>
          <p:cNvSpPr/>
          <p:nvPr/>
        </p:nvSpPr>
        <p:spPr>
          <a:xfrm>
            <a:off x="6451600" y="4572000"/>
            <a:ext cx="3759200" cy="406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9680" y="4511040"/>
            <a:ext cx="4003040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partnerships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Enforce placement rules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drives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Generate reports</a:t>
            </a:r>
            <a:endParaRPr lang="en-US" sz="2130" dirty="0"/>
          </a:p>
        </p:txBody>
      </p:sp>
      <p:sp>
        <p:nvSpPr>
          <p:cNvPr id="21" name="Shape 19"/>
          <p:cNvSpPr/>
          <p:nvPr/>
        </p:nvSpPr>
        <p:spPr>
          <a:xfrm>
            <a:off x="11074400" y="2794000"/>
            <a:ext cx="4572000" cy="6265291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074400" y="2794000"/>
            <a:ext cx="4572000" cy="67691"/>
          </a:xfrm>
          <a:prstGeom prst="rect">
            <a:avLst/>
          </a:pr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80800" y="3217291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11683" y="50804"/>
                </a:moveTo>
                <a:lnTo>
                  <a:pt x="330226" y="50804"/>
                </a:lnTo>
                <a:cubicBezTo>
                  <a:pt x="334882" y="50804"/>
                  <a:pt x="338693" y="54615"/>
                  <a:pt x="338693" y="59271"/>
                </a:cubicBezTo>
                <a:lnTo>
                  <a:pt x="338693" y="101608"/>
                </a:lnTo>
                <a:lnTo>
                  <a:pt x="203216" y="101608"/>
                </a:lnTo>
                <a:lnTo>
                  <a:pt x="203216" y="59271"/>
                </a:lnTo>
                <a:cubicBezTo>
                  <a:pt x="203216" y="54615"/>
                  <a:pt x="207027" y="50804"/>
                  <a:pt x="211683" y="50804"/>
                </a:cubicBezTo>
                <a:close/>
                <a:moveTo>
                  <a:pt x="152412" y="59271"/>
                </a:moveTo>
                <a:lnTo>
                  <a:pt x="152412" y="101608"/>
                </a:lnTo>
                <a:lnTo>
                  <a:pt x="67739" y="101608"/>
                </a:lnTo>
                <a:cubicBezTo>
                  <a:pt x="30377" y="101608"/>
                  <a:pt x="0" y="131985"/>
                  <a:pt x="0" y="169347"/>
                </a:cubicBezTo>
                <a:lnTo>
                  <a:pt x="0" y="270955"/>
                </a:lnTo>
                <a:lnTo>
                  <a:pt x="541909" y="270955"/>
                </a:lnTo>
                <a:lnTo>
                  <a:pt x="541909" y="169347"/>
                </a:lnTo>
                <a:cubicBezTo>
                  <a:pt x="541909" y="131985"/>
                  <a:pt x="511532" y="101608"/>
                  <a:pt x="474170" y="101608"/>
                </a:cubicBezTo>
                <a:lnTo>
                  <a:pt x="389497" y="101608"/>
                </a:lnTo>
                <a:lnTo>
                  <a:pt x="389497" y="59271"/>
                </a:lnTo>
                <a:cubicBezTo>
                  <a:pt x="389497" y="26566"/>
                  <a:pt x="362931" y="0"/>
                  <a:pt x="330226" y="0"/>
                </a:cubicBezTo>
                <a:lnTo>
                  <a:pt x="211683" y="0"/>
                </a:lnTo>
                <a:cubicBezTo>
                  <a:pt x="178978" y="0"/>
                  <a:pt x="152412" y="26566"/>
                  <a:pt x="152412" y="59271"/>
                </a:cubicBezTo>
                <a:close/>
                <a:moveTo>
                  <a:pt x="541909" y="321758"/>
                </a:moveTo>
                <a:lnTo>
                  <a:pt x="338693" y="321758"/>
                </a:lnTo>
                <a:lnTo>
                  <a:pt x="338693" y="338693"/>
                </a:lnTo>
                <a:cubicBezTo>
                  <a:pt x="338693" y="357427"/>
                  <a:pt x="323557" y="372562"/>
                  <a:pt x="304824" y="372562"/>
                </a:cubicBezTo>
                <a:lnTo>
                  <a:pt x="237085" y="372562"/>
                </a:lnTo>
                <a:cubicBezTo>
                  <a:pt x="218352" y="372562"/>
                  <a:pt x="203216" y="357427"/>
                  <a:pt x="203216" y="338693"/>
                </a:cubicBezTo>
                <a:lnTo>
                  <a:pt x="203216" y="321758"/>
                </a:lnTo>
                <a:lnTo>
                  <a:pt x="0" y="321758"/>
                </a:lnTo>
                <a:lnTo>
                  <a:pt x="0" y="440301"/>
                </a:lnTo>
                <a:cubicBezTo>
                  <a:pt x="0" y="477663"/>
                  <a:pt x="30377" y="508040"/>
                  <a:pt x="67739" y="508040"/>
                </a:cubicBezTo>
                <a:lnTo>
                  <a:pt x="474170" y="508040"/>
                </a:lnTo>
                <a:cubicBezTo>
                  <a:pt x="511532" y="508040"/>
                  <a:pt x="541909" y="477663"/>
                  <a:pt x="541909" y="440301"/>
                </a:cubicBezTo>
                <a:lnTo>
                  <a:pt x="541909" y="321758"/>
                </a:lnTo>
                <a:close/>
              </a:path>
            </a:pathLst>
          </a:cu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480800" y="3979291"/>
            <a:ext cx="37592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358880" y="3918331"/>
            <a:ext cx="40030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Employers</a:t>
            </a:r>
            <a:endParaRPr lang="en-US" sz="2670" dirty="0"/>
          </a:p>
        </p:txBody>
      </p:sp>
      <p:sp>
        <p:nvSpPr>
          <p:cNvPr id="26" name="Shape 24"/>
          <p:cNvSpPr/>
          <p:nvPr/>
        </p:nvSpPr>
        <p:spPr>
          <a:xfrm>
            <a:off x="11480800" y="4572000"/>
            <a:ext cx="3759200" cy="406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358880" y="4511040"/>
            <a:ext cx="4003040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Connect with campuses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Publish opportunities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selection processes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Issue offers</a:t>
            </a:r>
            <a:endParaRPr lang="en-US" sz="2130" dirty="0"/>
          </a:p>
        </p:txBody>
      </p:sp>
      <p:sp>
        <p:nvSpPr>
          <p:cNvPr id="28" name="Shape 26"/>
          <p:cNvSpPr/>
          <p:nvPr/>
        </p:nvSpPr>
        <p:spPr>
          <a:xfrm>
            <a:off x="16103600" y="2794000"/>
            <a:ext cx="4572000" cy="6265291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6103600" y="2794000"/>
            <a:ext cx="4572000" cy="67691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6510000" y="3217291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70955" y="0"/>
                </a:moveTo>
                <a:cubicBezTo>
                  <a:pt x="275823" y="0"/>
                  <a:pt x="280693" y="1059"/>
                  <a:pt x="285137" y="3070"/>
                </a:cubicBezTo>
                <a:lnTo>
                  <a:pt x="484543" y="87638"/>
                </a:lnTo>
                <a:cubicBezTo>
                  <a:pt x="507828" y="97480"/>
                  <a:pt x="525186" y="120448"/>
                  <a:pt x="525080" y="148178"/>
                </a:cubicBezTo>
                <a:cubicBezTo>
                  <a:pt x="524552" y="253173"/>
                  <a:pt x="481368" y="445276"/>
                  <a:pt x="299002" y="532595"/>
                </a:cubicBezTo>
                <a:cubicBezTo>
                  <a:pt x="281327" y="541062"/>
                  <a:pt x="260794" y="541062"/>
                  <a:pt x="243118" y="532595"/>
                </a:cubicBezTo>
                <a:cubicBezTo>
                  <a:pt x="60647" y="445276"/>
                  <a:pt x="17569" y="253173"/>
                  <a:pt x="17040" y="148178"/>
                </a:cubicBezTo>
                <a:cubicBezTo>
                  <a:pt x="16935" y="120448"/>
                  <a:pt x="34292" y="97480"/>
                  <a:pt x="57578" y="87638"/>
                </a:cubicBezTo>
                <a:lnTo>
                  <a:pt x="256877" y="3070"/>
                </a:lnTo>
                <a:cubicBezTo>
                  <a:pt x="261323" y="1059"/>
                  <a:pt x="266086" y="0"/>
                  <a:pt x="270955" y="0"/>
                </a:cubicBezTo>
                <a:close/>
                <a:moveTo>
                  <a:pt x="270955" y="70702"/>
                </a:moveTo>
                <a:lnTo>
                  <a:pt x="270955" y="470889"/>
                </a:lnTo>
                <a:cubicBezTo>
                  <a:pt x="417017" y="400187"/>
                  <a:pt x="456284" y="243542"/>
                  <a:pt x="457236" y="149766"/>
                </a:cubicBezTo>
                <a:lnTo>
                  <a:pt x="270955" y="70808"/>
                </a:lnTo>
                <a:lnTo>
                  <a:pt x="270955" y="70808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510000" y="3979291"/>
            <a:ext cx="37592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388080" y="3918331"/>
            <a:ext cx="40030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 Admin</a:t>
            </a:r>
            <a:endParaRPr lang="en-US" sz="2670" dirty="0"/>
          </a:p>
        </p:txBody>
      </p:sp>
      <p:sp>
        <p:nvSpPr>
          <p:cNvPr id="33" name="Shape 31"/>
          <p:cNvSpPr/>
          <p:nvPr/>
        </p:nvSpPr>
        <p:spPr>
          <a:xfrm>
            <a:off x="16510000" y="4572000"/>
            <a:ext cx="3759200" cy="406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6388080" y="4511040"/>
            <a:ext cx="4003040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Manage platform operations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Onboard institutions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Configure tenants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system activity</a:t>
            </a:r>
            <a:endParaRPr lang="en-US" sz="2130" dirty="0"/>
          </a:p>
        </p:txBody>
      </p:sp>
      <p:sp>
        <p:nvSpPr>
          <p:cNvPr id="35" name="Shape 33"/>
          <p:cNvSpPr/>
          <p:nvPr/>
        </p:nvSpPr>
        <p:spPr>
          <a:xfrm>
            <a:off x="1016000" y="9652000"/>
            <a:ext cx="19642709" cy="1016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524000" y="9652000"/>
            <a:ext cx="18626709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02080" y="9591040"/>
            <a:ext cx="18870549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source of truth</a:t>
            </a: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students, employers, and institutions.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6933291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7177131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PLACEMENTHUB DIFFERENT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96491"/>
            <a:ext cx="10160000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35531"/>
            <a:ext cx="10403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specifically for campus hiring.</a:t>
            </a:r>
            <a:endParaRPr lang="en-US" sz="2670" dirty="0"/>
          </a:p>
        </p:txBody>
      </p:sp>
      <p:sp>
        <p:nvSpPr>
          <p:cNvPr id="7" name="Shape 5"/>
          <p:cNvSpPr/>
          <p:nvPr/>
        </p:nvSpPr>
        <p:spPr>
          <a:xfrm>
            <a:off x="1016000" y="2794000"/>
            <a:ext cx="5080000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4080" y="2733040"/>
            <a:ext cx="5323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</a:t>
            </a:r>
            <a:endParaRPr lang="en-US" sz="1870" dirty="0"/>
          </a:p>
        </p:txBody>
      </p:sp>
      <p:sp>
        <p:nvSpPr>
          <p:cNvPr id="9" name="Shape 7"/>
          <p:cNvSpPr/>
          <p:nvPr/>
        </p:nvSpPr>
        <p:spPr>
          <a:xfrm>
            <a:off x="1016000" y="3386709"/>
            <a:ext cx="9144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4080" y="3325749"/>
            <a:ext cx="938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Multi-tenant architecture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16000" y="3979291"/>
            <a:ext cx="9144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4080" y="3918331"/>
            <a:ext cx="938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Employer partnership workflow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16000" y="4572000"/>
            <a:ext cx="9144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4080" y="4511040"/>
            <a:ext cx="938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Placement rules engine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16000" y="5164709"/>
            <a:ext cx="9144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4080" y="5103749"/>
            <a:ext cx="938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Campus visibility controls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16000" y="5757291"/>
            <a:ext cx="9144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4080" y="5696331"/>
            <a:ext cx="938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Clarifications and announcements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837291" y="3386709"/>
            <a:ext cx="9144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15371" y="3325749"/>
            <a:ext cx="938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Audit logs and reporting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837291" y="3979291"/>
            <a:ext cx="9144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715371" y="3918331"/>
            <a:ext cx="938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Internship and project management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837291" y="4572000"/>
            <a:ext cx="9144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15371" y="4511040"/>
            <a:ext cx="9387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Employer engagement workflows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16000" y="6688709"/>
            <a:ext cx="19642709" cy="16891"/>
          </a:xfrm>
          <a:prstGeom prst="rect">
            <a:avLst/>
          </a:prstGeom>
          <a:solidFill>
            <a:srgbClr val="E0D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16000" y="7027291"/>
            <a:ext cx="5080000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94080" y="6966331"/>
            <a:ext cx="5323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BEYOND PLACEMENTS</a:t>
            </a:r>
            <a:endParaRPr lang="en-US" sz="1870" dirty="0"/>
          </a:p>
        </p:txBody>
      </p:sp>
      <p:sp>
        <p:nvSpPr>
          <p:cNvPr id="28" name="Shape 26"/>
          <p:cNvSpPr/>
          <p:nvPr/>
        </p:nvSpPr>
        <p:spPr>
          <a:xfrm>
            <a:off x="1016000" y="7704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" y="76200"/>
                </a:moveTo>
                <a:cubicBezTo>
                  <a:pt x="40640" y="48180"/>
                  <a:pt x="58864" y="25400"/>
                  <a:pt x="81280" y="25400"/>
                </a:cubicBezTo>
                <a:lnTo>
                  <a:pt x="325120" y="25400"/>
                </a:lnTo>
                <a:cubicBezTo>
                  <a:pt x="347536" y="25400"/>
                  <a:pt x="365760" y="48180"/>
                  <a:pt x="365760" y="76200"/>
                </a:cubicBezTo>
                <a:lnTo>
                  <a:pt x="365760" y="266700"/>
                </a:lnTo>
                <a:lnTo>
                  <a:pt x="325120" y="266700"/>
                </a:lnTo>
                <a:lnTo>
                  <a:pt x="325120" y="76200"/>
                </a:lnTo>
                <a:lnTo>
                  <a:pt x="81280" y="76200"/>
                </a:lnTo>
                <a:lnTo>
                  <a:pt x="81280" y="266700"/>
                </a:lnTo>
                <a:lnTo>
                  <a:pt x="40640" y="266700"/>
                </a:lnTo>
                <a:lnTo>
                  <a:pt x="40640" y="76200"/>
                </a:lnTo>
                <a:close/>
                <a:moveTo>
                  <a:pt x="0" y="320040"/>
                </a:moveTo>
                <a:cubicBezTo>
                  <a:pt x="0" y="311627"/>
                  <a:pt x="5461" y="304800"/>
                  <a:pt x="12192" y="304800"/>
                </a:cubicBezTo>
                <a:lnTo>
                  <a:pt x="394208" y="304800"/>
                </a:lnTo>
                <a:cubicBezTo>
                  <a:pt x="400939" y="304800"/>
                  <a:pt x="406400" y="311627"/>
                  <a:pt x="406400" y="320040"/>
                </a:cubicBezTo>
                <a:cubicBezTo>
                  <a:pt x="406400" y="353695"/>
                  <a:pt x="384556" y="381000"/>
                  <a:pt x="357632" y="381000"/>
                </a:cubicBezTo>
                <a:lnTo>
                  <a:pt x="48768" y="381000"/>
                </a:lnTo>
                <a:cubicBezTo>
                  <a:pt x="21844" y="381000"/>
                  <a:pt x="0" y="353695"/>
                  <a:pt x="0" y="320040"/>
                </a:cubicBezTo>
                <a:close/>
                <a:moveTo>
                  <a:pt x="178435" y="165893"/>
                </a:moveTo>
                <a:lnTo>
                  <a:pt x="158751" y="190500"/>
                </a:lnTo>
                <a:lnTo>
                  <a:pt x="178435" y="215107"/>
                </a:lnTo>
                <a:cubicBezTo>
                  <a:pt x="184404" y="222568"/>
                  <a:pt x="184404" y="234632"/>
                  <a:pt x="178435" y="242015"/>
                </a:cubicBezTo>
                <a:cubicBezTo>
                  <a:pt x="172467" y="249396"/>
                  <a:pt x="162813" y="249476"/>
                  <a:pt x="156908" y="242015"/>
                </a:cubicBezTo>
                <a:lnTo>
                  <a:pt x="126428" y="203915"/>
                </a:lnTo>
                <a:cubicBezTo>
                  <a:pt x="120460" y="196453"/>
                  <a:pt x="120460" y="184388"/>
                  <a:pt x="126428" y="177007"/>
                </a:cubicBezTo>
                <a:lnTo>
                  <a:pt x="156908" y="138907"/>
                </a:lnTo>
                <a:cubicBezTo>
                  <a:pt x="162877" y="131445"/>
                  <a:pt x="172529" y="131445"/>
                  <a:pt x="178435" y="138907"/>
                </a:cubicBezTo>
                <a:cubicBezTo>
                  <a:pt x="184340" y="146368"/>
                  <a:pt x="184404" y="158432"/>
                  <a:pt x="178435" y="165815"/>
                </a:cubicBezTo>
                <a:close/>
                <a:moveTo>
                  <a:pt x="249555" y="138907"/>
                </a:moveTo>
                <a:lnTo>
                  <a:pt x="280035" y="177007"/>
                </a:lnTo>
                <a:cubicBezTo>
                  <a:pt x="286004" y="184468"/>
                  <a:pt x="286004" y="196532"/>
                  <a:pt x="280035" y="203915"/>
                </a:cubicBezTo>
                <a:lnTo>
                  <a:pt x="249555" y="242015"/>
                </a:lnTo>
                <a:cubicBezTo>
                  <a:pt x="243587" y="249476"/>
                  <a:pt x="233935" y="249476"/>
                  <a:pt x="228028" y="242015"/>
                </a:cubicBezTo>
                <a:cubicBezTo>
                  <a:pt x="222123" y="234553"/>
                  <a:pt x="222060" y="222488"/>
                  <a:pt x="228028" y="215107"/>
                </a:cubicBezTo>
                <a:lnTo>
                  <a:pt x="247713" y="190500"/>
                </a:lnTo>
                <a:lnTo>
                  <a:pt x="228028" y="165893"/>
                </a:lnTo>
                <a:cubicBezTo>
                  <a:pt x="222060" y="158432"/>
                  <a:pt x="222060" y="146368"/>
                  <a:pt x="228028" y="138985"/>
                </a:cubicBezTo>
                <a:cubicBezTo>
                  <a:pt x="233997" y="131604"/>
                  <a:pt x="243649" y="131524"/>
                  <a:pt x="249555" y="138985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625600" y="7670800"/>
            <a:ext cx="2709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503680" y="7609840"/>
            <a:ext cx="2953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Internships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4741291" y="7704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511" y="179071"/>
                </a:moveTo>
                <a:lnTo>
                  <a:pt x="22860" y="235109"/>
                </a:lnTo>
                <a:lnTo>
                  <a:pt x="22860" y="76200"/>
                </a:lnTo>
                <a:cubicBezTo>
                  <a:pt x="22860" y="48180"/>
                  <a:pt x="43109" y="25400"/>
                  <a:pt x="68016" y="25400"/>
                </a:cubicBezTo>
                <a:lnTo>
                  <a:pt x="165876" y="25400"/>
                </a:lnTo>
                <a:cubicBezTo>
                  <a:pt x="175613" y="25400"/>
                  <a:pt x="185137" y="28972"/>
                  <a:pt x="192969" y="35560"/>
                </a:cubicBezTo>
                <a:lnTo>
                  <a:pt x="220063" y="58420"/>
                </a:lnTo>
                <a:cubicBezTo>
                  <a:pt x="223944" y="61753"/>
                  <a:pt x="228741" y="63500"/>
                  <a:pt x="233609" y="63500"/>
                </a:cubicBezTo>
                <a:lnTo>
                  <a:pt x="316371" y="63500"/>
                </a:lnTo>
                <a:cubicBezTo>
                  <a:pt x="341277" y="63500"/>
                  <a:pt x="361527" y="86280"/>
                  <a:pt x="361527" y="114300"/>
                </a:cubicBezTo>
                <a:lnTo>
                  <a:pt x="361527" y="127000"/>
                </a:lnTo>
                <a:lnTo>
                  <a:pt x="103716" y="127000"/>
                </a:lnTo>
                <a:cubicBezTo>
                  <a:pt x="74577" y="127000"/>
                  <a:pt x="48684" y="147955"/>
                  <a:pt x="39440" y="179071"/>
                </a:cubicBezTo>
                <a:close/>
                <a:moveTo>
                  <a:pt x="337115" y="355600"/>
                </a:moveTo>
                <a:lnTo>
                  <a:pt x="69851" y="355600"/>
                </a:lnTo>
                <a:cubicBezTo>
                  <a:pt x="46708" y="355600"/>
                  <a:pt x="30409" y="330120"/>
                  <a:pt x="37747" y="305435"/>
                </a:cubicBezTo>
                <a:lnTo>
                  <a:pt x="71613" y="191135"/>
                </a:lnTo>
                <a:cubicBezTo>
                  <a:pt x="76200" y="175577"/>
                  <a:pt x="89183" y="165100"/>
                  <a:pt x="103716" y="165100"/>
                </a:cubicBezTo>
                <a:lnTo>
                  <a:pt x="370981" y="165100"/>
                </a:lnTo>
                <a:cubicBezTo>
                  <a:pt x="394123" y="165100"/>
                  <a:pt x="410421" y="190580"/>
                  <a:pt x="403084" y="215265"/>
                </a:cubicBezTo>
                <a:lnTo>
                  <a:pt x="369217" y="329565"/>
                </a:lnTo>
                <a:cubicBezTo>
                  <a:pt x="364631" y="345123"/>
                  <a:pt x="351649" y="355600"/>
                  <a:pt x="337115" y="355600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50891" y="7670800"/>
            <a:ext cx="3048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28971" y="7609840"/>
            <a:ext cx="3291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Projects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805291" y="7704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9" y="0"/>
                </a:moveTo>
                <a:lnTo>
                  <a:pt x="292339" y="0"/>
                </a:lnTo>
                <a:cubicBezTo>
                  <a:pt x="313372" y="0"/>
                  <a:pt x="330517" y="17304"/>
                  <a:pt x="329724" y="38259"/>
                </a:cubicBezTo>
                <a:cubicBezTo>
                  <a:pt x="329565" y="42465"/>
                  <a:pt x="329407" y="46672"/>
                  <a:pt x="329168" y="50800"/>
                </a:cubicBezTo>
                <a:lnTo>
                  <a:pt x="368539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0"/>
                  <a:pt x="357901" y="217884"/>
                  <a:pt x="312261" y="241539"/>
                </a:cubicBezTo>
                <a:cubicBezTo>
                  <a:pt x="299720" y="248047"/>
                  <a:pt x="286940" y="252889"/>
                  <a:pt x="274796" y="256460"/>
                </a:cubicBezTo>
                <a:cubicBezTo>
                  <a:pt x="258763" y="279161"/>
                  <a:pt x="242093" y="291148"/>
                  <a:pt x="228839" y="297577"/>
                </a:cubicBezTo>
                <a:lnTo>
                  <a:pt x="228839" y="355600"/>
                </a:lnTo>
                <a:lnTo>
                  <a:pt x="279639" y="355600"/>
                </a:lnTo>
                <a:cubicBezTo>
                  <a:pt x="293688" y="355600"/>
                  <a:pt x="305039" y="366951"/>
                  <a:pt x="305039" y="381000"/>
                </a:cubicBezTo>
                <a:cubicBezTo>
                  <a:pt x="305039" y="395049"/>
                  <a:pt x="293688" y="406400"/>
                  <a:pt x="279639" y="406400"/>
                </a:cubicBezTo>
                <a:lnTo>
                  <a:pt x="127239" y="406400"/>
                </a:lnTo>
                <a:cubicBezTo>
                  <a:pt x="113189" y="406400"/>
                  <a:pt x="101839" y="395049"/>
                  <a:pt x="101839" y="381000"/>
                </a:cubicBezTo>
                <a:cubicBezTo>
                  <a:pt x="101839" y="366951"/>
                  <a:pt x="113189" y="355600"/>
                  <a:pt x="127239" y="355600"/>
                </a:cubicBezTo>
                <a:lnTo>
                  <a:pt x="178039" y="355600"/>
                </a:lnTo>
                <a:lnTo>
                  <a:pt x="178039" y="297577"/>
                </a:lnTo>
                <a:cubicBezTo>
                  <a:pt x="165339" y="291465"/>
                  <a:pt x="149543" y="280115"/>
                  <a:pt x="134144" y="259239"/>
                </a:cubicBezTo>
                <a:cubicBezTo>
                  <a:pt x="119539" y="255429"/>
                  <a:pt x="103664" y="249635"/>
                  <a:pt x="88185" y="240903"/>
                </a:cubicBezTo>
                <a:cubicBezTo>
                  <a:pt x="45244" y="216852"/>
                  <a:pt x="6509" y="171529"/>
                  <a:pt x="952" y="90169"/>
                </a:cubicBezTo>
                <a:cubicBezTo>
                  <a:pt x="-556" y="67865"/>
                  <a:pt x="17621" y="50720"/>
                  <a:pt x="38339" y="50720"/>
                </a:cubicBezTo>
                <a:lnTo>
                  <a:pt x="77708" y="50720"/>
                </a:lnTo>
                <a:cubicBezTo>
                  <a:pt x="77471" y="46593"/>
                  <a:pt x="77311" y="42465"/>
                  <a:pt x="77152" y="38180"/>
                </a:cubicBezTo>
                <a:cubicBezTo>
                  <a:pt x="76359" y="17145"/>
                  <a:pt x="93504" y="-80"/>
                  <a:pt x="114539" y="-80"/>
                </a:cubicBezTo>
                <a:close/>
                <a:moveTo>
                  <a:pt x="80565" y="88900"/>
                </a:moveTo>
                <a:lnTo>
                  <a:pt x="38973" y="88900"/>
                </a:lnTo>
                <a:cubicBezTo>
                  <a:pt x="43895" y="156131"/>
                  <a:pt x="74771" y="189785"/>
                  <a:pt x="106600" y="207645"/>
                </a:cubicBezTo>
                <a:cubicBezTo>
                  <a:pt x="95171" y="178039"/>
                  <a:pt x="85725" y="139383"/>
                  <a:pt x="80565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1" y="137240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414891" y="7670800"/>
            <a:ext cx="2709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92971" y="7609840"/>
            <a:ext cx="2953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Hackathons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2530709" y="7704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1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1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1"/>
                </a:moveTo>
                <a:cubicBezTo>
                  <a:pt x="86193" y="69851"/>
                  <a:pt x="106680" y="95459"/>
                  <a:pt x="106680" y="127000"/>
                </a:cubicBezTo>
                <a:cubicBezTo>
                  <a:pt x="106680" y="158541"/>
                  <a:pt x="86193" y="184151"/>
                  <a:pt x="60960" y="184151"/>
                </a:cubicBezTo>
                <a:cubicBezTo>
                  <a:pt x="35727" y="184151"/>
                  <a:pt x="15240" y="158541"/>
                  <a:pt x="15240" y="127000"/>
                </a:cubicBezTo>
                <a:cubicBezTo>
                  <a:pt x="15240" y="95459"/>
                  <a:pt x="35727" y="69851"/>
                  <a:pt x="60960" y="69851"/>
                </a:cubicBezTo>
                <a:close/>
                <a:moveTo>
                  <a:pt x="0" y="330200"/>
                </a:moveTo>
                <a:cubicBezTo>
                  <a:pt x="0" y="274081"/>
                  <a:pt x="36385" y="228600"/>
                  <a:pt x="81280" y="228600"/>
                </a:cubicBezTo>
                <a:cubicBezTo>
                  <a:pt x="89408" y="228600"/>
                  <a:pt x="97283" y="230108"/>
                  <a:pt x="104712" y="232887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0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5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2"/>
                  <a:pt x="322580" y="262096"/>
                  <a:pt x="301688" y="232887"/>
                </a:cubicBezTo>
                <a:cubicBezTo>
                  <a:pt x="309119" y="230108"/>
                  <a:pt x="316992" y="228600"/>
                  <a:pt x="325120" y="228600"/>
                </a:cubicBezTo>
                <a:cubicBezTo>
                  <a:pt x="370015" y="228600"/>
                  <a:pt x="406400" y="274081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5" y="381000"/>
                </a:lnTo>
                <a:close/>
                <a:moveTo>
                  <a:pt x="299720" y="127000"/>
                </a:moveTo>
                <a:cubicBezTo>
                  <a:pt x="299720" y="95459"/>
                  <a:pt x="320207" y="69851"/>
                  <a:pt x="345440" y="69851"/>
                </a:cubicBezTo>
                <a:cubicBezTo>
                  <a:pt x="370673" y="69851"/>
                  <a:pt x="391160" y="95459"/>
                  <a:pt x="391160" y="127000"/>
                </a:cubicBezTo>
                <a:cubicBezTo>
                  <a:pt x="391160" y="158541"/>
                  <a:pt x="370673" y="184151"/>
                  <a:pt x="345440" y="184151"/>
                </a:cubicBezTo>
                <a:cubicBezTo>
                  <a:pt x="320207" y="184151"/>
                  <a:pt x="299720" y="158541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2"/>
                  <a:pt x="147067" y="215900"/>
                  <a:pt x="203200" y="215900"/>
                </a:cubicBezTo>
                <a:cubicBezTo>
                  <a:pt x="259333" y="215900"/>
                  <a:pt x="304800" y="272732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0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3140309" y="7670800"/>
            <a:ext cx="3556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018389" y="7609840"/>
            <a:ext cx="3799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Alumni Opportunities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7102709" y="7704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6077" y="15001"/>
                </a:moveTo>
                <a:cubicBezTo>
                  <a:pt x="375205" y="19051"/>
                  <a:pt x="381000" y="28099"/>
                  <a:pt x="381000" y="38100"/>
                </a:cubicBezTo>
                <a:lnTo>
                  <a:pt x="381000" y="368300"/>
                </a:lnTo>
                <a:cubicBezTo>
                  <a:pt x="381000" y="378301"/>
                  <a:pt x="375205" y="387351"/>
                  <a:pt x="366077" y="391399"/>
                </a:cubicBezTo>
                <a:cubicBezTo>
                  <a:pt x="356949" y="395447"/>
                  <a:pt x="346392" y="393939"/>
                  <a:pt x="338852" y="387351"/>
                </a:cubicBezTo>
                <a:lnTo>
                  <a:pt x="301863" y="355044"/>
                </a:lnTo>
                <a:cubicBezTo>
                  <a:pt x="267256" y="324803"/>
                  <a:pt x="223520" y="307181"/>
                  <a:pt x="177720" y="305039"/>
                </a:cubicBezTo>
                <a:lnTo>
                  <a:pt x="177720" y="381000"/>
                </a:lnTo>
                <a:cubicBezTo>
                  <a:pt x="177720" y="395049"/>
                  <a:pt x="166369" y="406400"/>
                  <a:pt x="152320" y="406400"/>
                </a:cubicBezTo>
                <a:lnTo>
                  <a:pt x="126920" y="406400"/>
                </a:lnTo>
                <a:cubicBezTo>
                  <a:pt x="112871" y="406400"/>
                  <a:pt x="101520" y="395049"/>
                  <a:pt x="101520" y="381000"/>
                </a:cubicBezTo>
                <a:lnTo>
                  <a:pt x="101520" y="304800"/>
                </a:lnTo>
                <a:cubicBezTo>
                  <a:pt x="45481" y="304800"/>
                  <a:pt x="0" y="259319"/>
                  <a:pt x="0" y="203200"/>
                </a:cubicBezTo>
                <a:cubicBezTo>
                  <a:pt x="0" y="147081"/>
                  <a:pt x="45481" y="101600"/>
                  <a:pt x="101600" y="101600"/>
                </a:cubicBezTo>
                <a:lnTo>
                  <a:pt x="168672" y="101600"/>
                </a:lnTo>
                <a:cubicBezTo>
                  <a:pt x="217725" y="101441"/>
                  <a:pt x="265033" y="83581"/>
                  <a:pt x="301943" y="51356"/>
                </a:cubicBezTo>
                <a:lnTo>
                  <a:pt x="338931" y="19051"/>
                </a:lnTo>
                <a:cubicBezTo>
                  <a:pt x="346392" y="12461"/>
                  <a:pt x="357108" y="10953"/>
                  <a:pt x="366157" y="15001"/>
                </a:cubicBezTo>
                <a:close/>
                <a:moveTo>
                  <a:pt x="177800" y="254000"/>
                </a:moveTo>
                <a:lnTo>
                  <a:pt x="177800" y="254159"/>
                </a:lnTo>
                <a:cubicBezTo>
                  <a:pt x="233600" y="256301"/>
                  <a:pt x="287179" y="276780"/>
                  <a:pt x="330200" y="312420"/>
                </a:cubicBezTo>
                <a:lnTo>
                  <a:pt x="330200" y="93900"/>
                </a:lnTo>
                <a:cubicBezTo>
                  <a:pt x="287179" y="129540"/>
                  <a:pt x="233600" y="150019"/>
                  <a:pt x="177800" y="152161"/>
                </a:cubicBezTo>
                <a:lnTo>
                  <a:pt x="177800" y="25400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7712309" y="7670800"/>
            <a:ext cx="3048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7590389" y="7609840"/>
            <a:ext cx="3291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Employer Branding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1016000" y="8805291"/>
            <a:ext cx="19642709" cy="1862709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524000" y="9059291"/>
            <a:ext cx="18626709" cy="1354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402080" y="8998331"/>
            <a:ext cx="18870549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4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"PlacementHub is not a job board. It is a workflow platform designed around how campus placements actually operate."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 USES PLACEMENTHUB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96491"/>
            <a:ext cx="8466709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35531"/>
            <a:ext cx="871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roles. One ecosystem.</a:t>
            </a:r>
            <a:endParaRPr lang="en-US" sz="2670" dirty="0"/>
          </a:p>
        </p:txBody>
      </p:sp>
      <p:sp>
        <p:nvSpPr>
          <p:cNvPr id="7" name="Shape 5"/>
          <p:cNvSpPr/>
          <p:nvPr/>
        </p:nvSpPr>
        <p:spPr>
          <a:xfrm>
            <a:off x="1016000" y="2878709"/>
            <a:ext cx="4572000" cy="6434709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224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28340" y="-15479"/>
                </a:moveTo>
                <a:cubicBezTo>
                  <a:pt x="312828" y="-18216"/>
                  <a:pt x="296908" y="-18216"/>
                  <a:pt x="281396" y="-15479"/>
                </a:cubicBezTo>
                <a:lnTo>
                  <a:pt x="26261" y="29171"/>
                </a:lnTo>
                <a:cubicBezTo>
                  <a:pt x="11021" y="31789"/>
                  <a:pt x="0" y="43577"/>
                  <a:pt x="0" y="57151"/>
                </a:cubicBezTo>
                <a:cubicBezTo>
                  <a:pt x="0" y="69413"/>
                  <a:pt x="8844" y="80129"/>
                  <a:pt x="21772" y="84059"/>
                </a:cubicBezTo>
                <a:lnTo>
                  <a:pt x="21772" y="171451"/>
                </a:lnTo>
                <a:lnTo>
                  <a:pt x="408" y="265033"/>
                </a:lnTo>
                <a:cubicBezTo>
                  <a:pt x="136" y="266105"/>
                  <a:pt x="0" y="267295"/>
                  <a:pt x="0" y="268485"/>
                </a:cubicBezTo>
                <a:cubicBezTo>
                  <a:pt x="0" y="278011"/>
                  <a:pt x="8844" y="285869"/>
                  <a:pt x="19867" y="285869"/>
                </a:cubicBezTo>
                <a:lnTo>
                  <a:pt x="67356" y="285869"/>
                </a:lnTo>
                <a:cubicBezTo>
                  <a:pt x="78241" y="285869"/>
                  <a:pt x="87221" y="278131"/>
                  <a:pt x="87221" y="268485"/>
                </a:cubicBezTo>
                <a:cubicBezTo>
                  <a:pt x="87221" y="267295"/>
                  <a:pt x="87085" y="266224"/>
                  <a:pt x="86813" y="265033"/>
                </a:cubicBezTo>
                <a:lnTo>
                  <a:pt x="65315" y="171451"/>
                </a:lnTo>
                <a:lnTo>
                  <a:pt x="65315" y="92035"/>
                </a:lnTo>
                <a:lnTo>
                  <a:pt x="130628" y="103465"/>
                </a:lnTo>
                <a:lnTo>
                  <a:pt x="130628" y="171451"/>
                </a:lnTo>
                <a:cubicBezTo>
                  <a:pt x="130628" y="255627"/>
                  <a:pt x="208597" y="323851"/>
                  <a:pt x="304800" y="323851"/>
                </a:cubicBezTo>
                <a:cubicBezTo>
                  <a:pt x="401003" y="323851"/>
                  <a:pt x="478972" y="255627"/>
                  <a:pt x="478972" y="171451"/>
                </a:cubicBezTo>
                <a:lnTo>
                  <a:pt x="478972" y="103465"/>
                </a:lnTo>
                <a:lnTo>
                  <a:pt x="583339" y="85249"/>
                </a:lnTo>
                <a:cubicBezTo>
                  <a:pt x="598579" y="82511"/>
                  <a:pt x="609600" y="70723"/>
                  <a:pt x="609600" y="57151"/>
                </a:cubicBezTo>
                <a:cubicBezTo>
                  <a:pt x="609600" y="43577"/>
                  <a:pt x="598579" y="31789"/>
                  <a:pt x="583339" y="29171"/>
                </a:cubicBezTo>
                <a:lnTo>
                  <a:pt x="328340" y="-15479"/>
                </a:lnTo>
                <a:close/>
                <a:moveTo>
                  <a:pt x="304800" y="266700"/>
                </a:moveTo>
                <a:cubicBezTo>
                  <a:pt x="244656" y="266700"/>
                  <a:pt x="195943" y="224076"/>
                  <a:pt x="195943" y="171451"/>
                </a:cubicBezTo>
                <a:lnTo>
                  <a:pt x="413657" y="171451"/>
                </a:lnTo>
                <a:cubicBezTo>
                  <a:pt x="413657" y="224076"/>
                  <a:pt x="364944" y="266700"/>
                  <a:pt x="304800" y="266700"/>
                </a:cubicBezTo>
                <a:close/>
                <a:moveTo>
                  <a:pt x="163421" y="381119"/>
                </a:moveTo>
                <a:cubicBezTo>
                  <a:pt x="79873" y="414695"/>
                  <a:pt x="21772" y="488513"/>
                  <a:pt x="21772" y="574239"/>
                </a:cubicBezTo>
                <a:cubicBezTo>
                  <a:pt x="21772" y="593765"/>
                  <a:pt x="39869" y="609600"/>
                  <a:pt x="62184" y="609600"/>
                </a:cubicBezTo>
                <a:lnTo>
                  <a:pt x="272143" y="609600"/>
                </a:lnTo>
                <a:lnTo>
                  <a:pt x="272143" y="435769"/>
                </a:lnTo>
                <a:lnTo>
                  <a:pt x="194037" y="384572"/>
                </a:lnTo>
                <a:cubicBezTo>
                  <a:pt x="185193" y="378737"/>
                  <a:pt x="173355" y="377191"/>
                  <a:pt x="163285" y="381239"/>
                </a:cubicBezTo>
                <a:close/>
                <a:moveTo>
                  <a:pt x="337457" y="609600"/>
                </a:moveTo>
                <a:lnTo>
                  <a:pt x="547416" y="609600"/>
                </a:lnTo>
                <a:cubicBezTo>
                  <a:pt x="569731" y="609600"/>
                  <a:pt x="587828" y="593765"/>
                  <a:pt x="587828" y="574239"/>
                </a:cubicBezTo>
                <a:cubicBezTo>
                  <a:pt x="587828" y="488513"/>
                  <a:pt x="529727" y="414695"/>
                  <a:pt x="446179" y="381239"/>
                </a:cubicBezTo>
                <a:cubicBezTo>
                  <a:pt x="436109" y="377191"/>
                  <a:pt x="424271" y="378737"/>
                  <a:pt x="415427" y="384572"/>
                </a:cubicBezTo>
                <a:lnTo>
                  <a:pt x="337321" y="435769"/>
                </a:lnTo>
                <a:lnTo>
                  <a:pt x="337321" y="609600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22400" y="4148709"/>
            <a:ext cx="37592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00480" y="4087749"/>
            <a:ext cx="40030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2670" dirty="0"/>
          </a:p>
        </p:txBody>
      </p:sp>
      <p:sp>
        <p:nvSpPr>
          <p:cNvPr id="11" name="Shape 9"/>
          <p:cNvSpPr/>
          <p:nvPr/>
        </p:nvSpPr>
        <p:spPr>
          <a:xfrm>
            <a:off x="1422400" y="4741291"/>
            <a:ext cx="3759200" cy="406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00480" y="4680331"/>
            <a:ext cx="4003040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Profile management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Resume uploads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Applications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Interview tracking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Offer management</a:t>
            </a:r>
            <a:endParaRPr lang="en-US" sz="2130" dirty="0"/>
          </a:p>
        </p:txBody>
      </p:sp>
      <p:sp>
        <p:nvSpPr>
          <p:cNvPr id="13" name="Shape 11"/>
          <p:cNvSpPr/>
          <p:nvPr/>
        </p:nvSpPr>
        <p:spPr>
          <a:xfrm>
            <a:off x="6045200" y="2878709"/>
            <a:ext cx="4572000" cy="6434709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516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23731" y="24051"/>
                </a:moveTo>
                <a:cubicBezTo>
                  <a:pt x="312063" y="17383"/>
                  <a:pt x="297656" y="17383"/>
                  <a:pt x="285869" y="24051"/>
                </a:cubicBezTo>
                <a:lnTo>
                  <a:pt x="19169" y="176451"/>
                </a:lnTo>
                <a:cubicBezTo>
                  <a:pt x="4167" y="185023"/>
                  <a:pt x="-3215" y="202644"/>
                  <a:pt x="1191" y="219313"/>
                </a:cubicBezTo>
                <a:cubicBezTo>
                  <a:pt x="5596" y="235981"/>
                  <a:pt x="20836" y="247651"/>
                  <a:pt x="38100" y="247651"/>
                </a:cubicBezTo>
                <a:lnTo>
                  <a:pt x="76200" y="247651"/>
                </a:lnTo>
                <a:lnTo>
                  <a:pt x="76200" y="495300"/>
                </a:lnTo>
                <a:lnTo>
                  <a:pt x="76200" y="495300"/>
                </a:lnTo>
                <a:lnTo>
                  <a:pt x="15240" y="541020"/>
                </a:lnTo>
                <a:cubicBezTo>
                  <a:pt x="5596" y="548164"/>
                  <a:pt x="0" y="559475"/>
                  <a:pt x="0" y="571500"/>
                </a:cubicBezTo>
                <a:cubicBezTo>
                  <a:pt x="0" y="592575"/>
                  <a:pt x="17025" y="609600"/>
                  <a:pt x="38100" y="609600"/>
                </a:cubicBezTo>
                <a:lnTo>
                  <a:pt x="571500" y="609600"/>
                </a:lnTo>
                <a:cubicBezTo>
                  <a:pt x="592575" y="609600"/>
                  <a:pt x="609600" y="592575"/>
                  <a:pt x="609600" y="571500"/>
                </a:cubicBezTo>
                <a:cubicBezTo>
                  <a:pt x="609600" y="559475"/>
                  <a:pt x="604004" y="548164"/>
                  <a:pt x="594360" y="541020"/>
                </a:cubicBezTo>
                <a:lnTo>
                  <a:pt x="533400" y="495300"/>
                </a:lnTo>
                <a:lnTo>
                  <a:pt x="533400" y="247651"/>
                </a:lnTo>
                <a:lnTo>
                  <a:pt x="571500" y="247651"/>
                </a:lnTo>
                <a:cubicBezTo>
                  <a:pt x="588764" y="247651"/>
                  <a:pt x="603885" y="235981"/>
                  <a:pt x="608291" y="219313"/>
                </a:cubicBezTo>
                <a:cubicBezTo>
                  <a:pt x="612696" y="202644"/>
                  <a:pt x="605313" y="185023"/>
                  <a:pt x="590312" y="176451"/>
                </a:cubicBezTo>
                <a:lnTo>
                  <a:pt x="323612" y="24051"/>
                </a:lnTo>
                <a:close/>
                <a:moveTo>
                  <a:pt x="476251" y="247651"/>
                </a:moveTo>
                <a:lnTo>
                  <a:pt x="476251" y="495300"/>
                </a:lnTo>
                <a:lnTo>
                  <a:pt x="400051" y="495300"/>
                </a:lnTo>
                <a:lnTo>
                  <a:pt x="400051" y="247651"/>
                </a:lnTo>
                <a:lnTo>
                  <a:pt x="476251" y="247651"/>
                </a:lnTo>
                <a:close/>
                <a:moveTo>
                  <a:pt x="342900" y="247651"/>
                </a:moveTo>
                <a:lnTo>
                  <a:pt x="342900" y="495300"/>
                </a:lnTo>
                <a:lnTo>
                  <a:pt x="266700" y="495300"/>
                </a:lnTo>
                <a:lnTo>
                  <a:pt x="266700" y="247651"/>
                </a:lnTo>
                <a:lnTo>
                  <a:pt x="342900" y="247651"/>
                </a:lnTo>
                <a:close/>
                <a:moveTo>
                  <a:pt x="209551" y="247651"/>
                </a:moveTo>
                <a:lnTo>
                  <a:pt x="209551" y="495300"/>
                </a:lnTo>
                <a:lnTo>
                  <a:pt x="133351" y="495300"/>
                </a:lnTo>
                <a:lnTo>
                  <a:pt x="133351" y="247651"/>
                </a:lnTo>
                <a:lnTo>
                  <a:pt x="209551" y="247651"/>
                </a:lnTo>
                <a:close/>
                <a:moveTo>
                  <a:pt x="304800" y="114300"/>
                </a:moveTo>
                <a:cubicBezTo>
                  <a:pt x="325828" y="114300"/>
                  <a:pt x="342900" y="131372"/>
                  <a:pt x="342900" y="152400"/>
                </a:cubicBezTo>
                <a:cubicBezTo>
                  <a:pt x="342900" y="173428"/>
                  <a:pt x="325828" y="190500"/>
                  <a:pt x="304800" y="190500"/>
                </a:cubicBezTo>
                <a:cubicBezTo>
                  <a:pt x="283772" y="190500"/>
                  <a:pt x="266700" y="173428"/>
                  <a:pt x="266700" y="152400"/>
                </a:cubicBezTo>
                <a:cubicBezTo>
                  <a:pt x="266700" y="131372"/>
                  <a:pt x="283772" y="114300"/>
                  <a:pt x="304800" y="114300"/>
                </a:cubicBez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51600" y="4148709"/>
            <a:ext cx="37592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9680" y="4087749"/>
            <a:ext cx="40030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 Admin</a:t>
            </a:r>
            <a:endParaRPr lang="en-US" sz="2670" dirty="0"/>
          </a:p>
        </p:txBody>
      </p:sp>
      <p:sp>
        <p:nvSpPr>
          <p:cNvPr id="17" name="Shape 15"/>
          <p:cNvSpPr/>
          <p:nvPr/>
        </p:nvSpPr>
        <p:spPr>
          <a:xfrm>
            <a:off x="6451600" y="4741291"/>
            <a:ext cx="3759200" cy="406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29680" y="4680331"/>
            <a:ext cx="4003040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Student records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Partnerships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Placement policies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Reporting</a:t>
            </a:r>
            <a:endParaRPr lang="en-US" sz="2130" dirty="0"/>
          </a:p>
        </p:txBody>
      </p:sp>
      <p:sp>
        <p:nvSpPr>
          <p:cNvPr id="19" name="Shape 17"/>
          <p:cNvSpPr/>
          <p:nvPr/>
        </p:nvSpPr>
        <p:spPr>
          <a:xfrm>
            <a:off x="11074400" y="2878709"/>
            <a:ext cx="4572000" cy="6434709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4808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38125" y="57151"/>
                </a:moveTo>
                <a:lnTo>
                  <a:pt x="371475" y="57151"/>
                </a:lnTo>
                <a:cubicBezTo>
                  <a:pt x="376713" y="57151"/>
                  <a:pt x="381000" y="61436"/>
                  <a:pt x="381000" y="66675"/>
                </a:cubicBezTo>
                <a:lnTo>
                  <a:pt x="381000" y="114300"/>
                </a:lnTo>
                <a:lnTo>
                  <a:pt x="228600" y="114300"/>
                </a:lnTo>
                <a:lnTo>
                  <a:pt x="228600" y="66675"/>
                </a:lnTo>
                <a:cubicBezTo>
                  <a:pt x="228600" y="61436"/>
                  <a:pt x="232887" y="57151"/>
                  <a:pt x="238125" y="57151"/>
                </a:cubicBezTo>
                <a:close/>
                <a:moveTo>
                  <a:pt x="171451" y="66675"/>
                </a:moveTo>
                <a:lnTo>
                  <a:pt x="171451" y="114300"/>
                </a:lnTo>
                <a:lnTo>
                  <a:pt x="76200" y="114300"/>
                </a:lnTo>
                <a:cubicBezTo>
                  <a:pt x="34171" y="114300"/>
                  <a:pt x="0" y="148471"/>
                  <a:pt x="0" y="190500"/>
                </a:cubicBezTo>
                <a:lnTo>
                  <a:pt x="0" y="304800"/>
                </a:lnTo>
                <a:lnTo>
                  <a:pt x="609600" y="304800"/>
                </a:lnTo>
                <a:lnTo>
                  <a:pt x="609600" y="190500"/>
                </a:lnTo>
                <a:cubicBezTo>
                  <a:pt x="609600" y="148471"/>
                  <a:pt x="575429" y="114300"/>
                  <a:pt x="533400" y="114300"/>
                </a:cubicBezTo>
                <a:lnTo>
                  <a:pt x="438151" y="114300"/>
                </a:lnTo>
                <a:lnTo>
                  <a:pt x="438151" y="66675"/>
                </a:lnTo>
                <a:cubicBezTo>
                  <a:pt x="438151" y="29885"/>
                  <a:pt x="408265" y="0"/>
                  <a:pt x="371475" y="0"/>
                </a:cubicBezTo>
                <a:lnTo>
                  <a:pt x="238125" y="0"/>
                </a:lnTo>
                <a:cubicBezTo>
                  <a:pt x="201335" y="0"/>
                  <a:pt x="171451" y="29885"/>
                  <a:pt x="171451" y="66675"/>
                </a:cubicBezTo>
                <a:close/>
                <a:moveTo>
                  <a:pt x="609600" y="361951"/>
                </a:moveTo>
                <a:lnTo>
                  <a:pt x="381000" y="361951"/>
                </a:lnTo>
                <a:lnTo>
                  <a:pt x="381000" y="381000"/>
                </a:lnTo>
                <a:cubicBezTo>
                  <a:pt x="381000" y="402075"/>
                  <a:pt x="363975" y="419100"/>
                  <a:pt x="342900" y="419100"/>
                </a:cubicBezTo>
                <a:lnTo>
                  <a:pt x="266700" y="419100"/>
                </a:lnTo>
                <a:cubicBezTo>
                  <a:pt x="245625" y="419100"/>
                  <a:pt x="228600" y="402075"/>
                  <a:pt x="228600" y="381000"/>
                </a:cubicBezTo>
                <a:lnTo>
                  <a:pt x="228600" y="361951"/>
                </a:lnTo>
                <a:lnTo>
                  <a:pt x="0" y="361951"/>
                </a:ln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533400" y="571500"/>
                </a:lnTo>
                <a:cubicBezTo>
                  <a:pt x="575429" y="571500"/>
                  <a:pt x="609600" y="537329"/>
                  <a:pt x="609600" y="495300"/>
                </a:cubicBezTo>
                <a:lnTo>
                  <a:pt x="609600" y="361951"/>
                </a:lnTo>
                <a:close/>
              </a:path>
            </a:pathLst>
          </a:cu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480800" y="4148709"/>
            <a:ext cx="37592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358880" y="4087749"/>
            <a:ext cx="40030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Employer</a:t>
            </a:r>
            <a:endParaRPr lang="en-US" sz="2670" dirty="0"/>
          </a:p>
        </p:txBody>
      </p:sp>
      <p:sp>
        <p:nvSpPr>
          <p:cNvPr id="23" name="Shape 21"/>
          <p:cNvSpPr/>
          <p:nvPr/>
        </p:nvSpPr>
        <p:spPr>
          <a:xfrm>
            <a:off x="11480800" y="4741291"/>
            <a:ext cx="3759200" cy="406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358880" y="4680331"/>
            <a:ext cx="4003040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Company profile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Campus partnerships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Hiring workflows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Offer management</a:t>
            </a:r>
            <a:endParaRPr lang="en-US" sz="2130" dirty="0"/>
          </a:p>
        </p:txBody>
      </p:sp>
      <p:sp>
        <p:nvSpPr>
          <p:cNvPr id="25" name="Shape 23"/>
          <p:cNvSpPr/>
          <p:nvPr/>
        </p:nvSpPr>
        <p:spPr>
          <a:xfrm>
            <a:off x="16103600" y="2878709"/>
            <a:ext cx="4572000" cy="6434709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510000" y="330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3" y="1191"/>
                  <a:pt x="320755" y="3453"/>
                </a:cubicBezTo>
                <a:lnTo>
                  <a:pt x="545068" y="98584"/>
                </a:lnTo>
                <a:cubicBezTo>
                  <a:pt x="571261" y="109656"/>
                  <a:pt x="590788" y="135493"/>
                  <a:pt x="590669" y="166688"/>
                </a:cubicBezTo>
                <a:cubicBezTo>
                  <a:pt x="590073" y="284797"/>
                  <a:pt x="541496" y="500896"/>
                  <a:pt x="336352" y="599123"/>
                </a:cubicBezTo>
                <a:cubicBezTo>
                  <a:pt x="316468" y="608648"/>
                  <a:pt x="293371" y="608648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49" y="135493"/>
                  <a:pt x="38576" y="109656"/>
                  <a:pt x="64769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3"/>
                </a:moveTo>
                <a:lnTo>
                  <a:pt x="304800" y="529709"/>
                </a:lnTo>
                <a:cubicBezTo>
                  <a:pt x="469107" y="450175"/>
                  <a:pt x="513279" y="273963"/>
                  <a:pt x="514351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6510000" y="4148709"/>
            <a:ext cx="37592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388080" y="4087749"/>
            <a:ext cx="40030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 Admin</a:t>
            </a:r>
            <a:endParaRPr lang="en-US" sz="2670" dirty="0"/>
          </a:p>
        </p:txBody>
      </p:sp>
      <p:sp>
        <p:nvSpPr>
          <p:cNvPr id="29" name="Shape 27"/>
          <p:cNvSpPr/>
          <p:nvPr/>
        </p:nvSpPr>
        <p:spPr>
          <a:xfrm>
            <a:off x="16510000" y="4741291"/>
            <a:ext cx="3759200" cy="406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388080" y="4680331"/>
            <a:ext cx="4003040" cy="418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Tenant onboarding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Global settings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Audit monitoring</a:t>
            </a:r>
            <a:endParaRPr lang="en-US" sz="2130" dirty="0"/>
          </a:p>
          <a:p>
            <a:pPr algn="l">
              <a:lnSpc>
                <a:spcPct val="170000"/>
              </a:lnSpc>
            </a:pPr>
            <a:r>
              <a:rPr lang="en-US" sz="213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Support management</a:t>
            </a:r>
            <a:endParaRPr lang="en-US" sz="2130" dirty="0"/>
          </a:p>
        </p:txBody>
      </p:sp>
      <p:sp>
        <p:nvSpPr>
          <p:cNvPr id="31" name="Shape 29"/>
          <p:cNvSpPr/>
          <p:nvPr/>
        </p:nvSpPr>
        <p:spPr>
          <a:xfrm>
            <a:off x="1016000" y="9906000"/>
            <a:ext cx="19642709" cy="9312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524000" y="9906000"/>
            <a:ext cx="18626709" cy="931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02080" y="9845040"/>
            <a:ext cx="18870549" cy="1053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Role-based navigation ensures each user sees only the features relevant to them.</a:t>
            </a:r>
            <a:endParaRPr lang="en-US" sz="2130" dirty="0"/>
          </a:p>
        </p:txBody>
      </p:sp>
      <p:sp>
        <p:nvSpPr>
          <p:cNvPr id="34" name="Shape 32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8626709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8870549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OPPORTUNITIES MANAGED THROUGH PLACEMENTHUB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96491"/>
            <a:ext cx="10160000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35531"/>
            <a:ext cx="10403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than just placement drives.</a:t>
            </a:r>
            <a:endParaRPr lang="en-US" sz="267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794000"/>
          <a:ext cx="19642709" cy="6604000"/>
        </p:xfrm>
        <a:graphic>
          <a:graphicData uri="http://schemas.openxmlformats.org/drawingml/2006/table">
            <a:tbl>
              <a:tblPr/>
              <a:tblGrid>
                <a:gridCol w="6285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7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130" b="1" dirty="0">
                          <a:solidFill>
                            <a:srgbClr val="F5F3E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Program Type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b="1" dirty="0">
                          <a:solidFill>
                            <a:srgbClr val="F5F3E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Placement Drives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Campus recruitment — structured hiring events managed end-to-end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Full-time and PPO (Pre-Placement Offer) opportunities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Internships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Summer and semester internships with structured evaluation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Projects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Industry-sponsored assignments and capstone collaborations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Hackathons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Competitions and talent discovery events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Alumni Opportunities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Graduate hiring and experienced professional roles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Employer Engagement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0" dirty="0">
                          <a:solidFill>
                            <a:srgbClr val="1E2D3D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Workshops, sponsorships, and branding activities</a:t>
                      </a:r>
                      <a:endParaRPr lang="en-US" sz="213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1016000" y="9906000"/>
            <a:ext cx="19642709" cy="9312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6"/>
          <p:cNvSpPr/>
          <p:nvPr/>
        </p:nvSpPr>
        <p:spPr>
          <a:xfrm>
            <a:off x="1524000" y="9906000"/>
            <a:ext cx="18626709" cy="931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402080" y="9845040"/>
            <a:ext cx="18870549" cy="1053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Institutions decide which opportunities are visible to their students.</a:t>
            </a:r>
            <a:endParaRPr lang="en-US" sz="2130" dirty="0"/>
          </a:p>
        </p:txBody>
      </p:sp>
      <p:sp>
        <p:nvSpPr>
          <p:cNvPr id="11" name="Shape 8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JOURNEY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96491"/>
            <a:ext cx="8466709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35531"/>
            <a:ext cx="871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registration to placement.</a:t>
            </a:r>
            <a:endParaRPr lang="en-US" sz="2670" dirty="0"/>
          </a:p>
        </p:txBody>
      </p:sp>
      <p:sp>
        <p:nvSpPr>
          <p:cNvPr id="7" name="Shape 5"/>
          <p:cNvSpPr/>
          <p:nvPr/>
        </p:nvSpPr>
        <p:spPr>
          <a:xfrm>
            <a:off x="1016000" y="2878709"/>
            <a:ext cx="609600" cy="6096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6000" y="2878709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4080" y="2817749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2130" dirty="0"/>
          </a:p>
        </p:txBody>
      </p:sp>
      <p:sp>
        <p:nvSpPr>
          <p:cNvPr id="10" name="Shape 8"/>
          <p:cNvSpPr/>
          <p:nvPr/>
        </p:nvSpPr>
        <p:spPr>
          <a:xfrm>
            <a:off x="1862709" y="2878709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40789" y="2817749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account provisioned by institution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16000" y="3725291"/>
            <a:ext cx="609600" cy="6096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16000" y="3725291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4080" y="3664331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2130" dirty="0"/>
          </a:p>
        </p:txBody>
      </p:sp>
      <p:sp>
        <p:nvSpPr>
          <p:cNvPr id="15" name="Shape 13"/>
          <p:cNvSpPr/>
          <p:nvPr/>
        </p:nvSpPr>
        <p:spPr>
          <a:xfrm>
            <a:off x="1862709" y="3725291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40789" y="3664331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and resume completion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16000" y="4572000"/>
            <a:ext cx="609600" cy="6096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16000" y="4572000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4080" y="4511040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2130" dirty="0"/>
          </a:p>
        </p:txBody>
      </p:sp>
      <p:sp>
        <p:nvSpPr>
          <p:cNvPr id="20" name="Shape 18"/>
          <p:cNvSpPr/>
          <p:nvPr/>
        </p:nvSpPr>
        <p:spPr>
          <a:xfrm>
            <a:off x="1862709" y="4572000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740789" y="4511040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 approved opportunities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16000" y="5418709"/>
            <a:ext cx="609600" cy="6096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16000" y="5418709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4080" y="5357749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2130" dirty="0"/>
          </a:p>
        </p:txBody>
      </p:sp>
      <p:sp>
        <p:nvSpPr>
          <p:cNvPr id="25" name="Shape 23"/>
          <p:cNvSpPr/>
          <p:nvPr/>
        </p:nvSpPr>
        <p:spPr>
          <a:xfrm>
            <a:off x="1862709" y="5418709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40789" y="5357749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Eligibility validation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16000" y="6265291"/>
            <a:ext cx="609600" cy="609600"/>
          </a:xfrm>
          <a:prstGeom prst="ellipse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6000" y="6265291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4080" y="6204331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2130" dirty="0"/>
          </a:p>
        </p:txBody>
      </p:sp>
      <p:sp>
        <p:nvSpPr>
          <p:cNvPr id="30" name="Shape 28"/>
          <p:cNvSpPr/>
          <p:nvPr/>
        </p:nvSpPr>
        <p:spPr>
          <a:xfrm>
            <a:off x="1862709" y="6265291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40789" y="6204331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submission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0837291" y="2878709"/>
            <a:ext cx="609600" cy="60960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837291" y="2878709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715371" y="2817749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2130" dirty="0"/>
          </a:p>
        </p:txBody>
      </p:sp>
      <p:sp>
        <p:nvSpPr>
          <p:cNvPr id="35" name="Shape 33"/>
          <p:cNvSpPr/>
          <p:nvPr/>
        </p:nvSpPr>
        <p:spPr>
          <a:xfrm>
            <a:off x="11684000" y="2878709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562080" y="2817749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 participation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10837291" y="3725291"/>
            <a:ext cx="609600" cy="60960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837291" y="3725291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715371" y="3664331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2130" dirty="0"/>
          </a:p>
        </p:txBody>
      </p:sp>
      <p:sp>
        <p:nvSpPr>
          <p:cNvPr id="40" name="Shape 38"/>
          <p:cNvSpPr/>
          <p:nvPr/>
        </p:nvSpPr>
        <p:spPr>
          <a:xfrm>
            <a:off x="11684000" y="3725291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1562080" y="3664331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 scheduling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0837291" y="4572000"/>
            <a:ext cx="609600" cy="60960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837291" y="4572000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715371" y="4511040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2130" dirty="0"/>
          </a:p>
        </p:txBody>
      </p:sp>
      <p:sp>
        <p:nvSpPr>
          <p:cNvPr id="45" name="Shape 43"/>
          <p:cNvSpPr/>
          <p:nvPr/>
        </p:nvSpPr>
        <p:spPr>
          <a:xfrm>
            <a:off x="11684000" y="4572000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1562080" y="4511040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 management</a:t>
            </a:r>
            <a:endParaRPr lang="en-US" sz="2400" dirty="0"/>
          </a:p>
        </p:txBody>
      </p:sp>
      <p:sp>
        <p:nvSpPr>
          <p:cNvPr id="47" name="Shape 45"/>
          <p:cNvSpPr/>
          <p:nvPr/>
        </p:nvSpPr>
        <p:spPr>
          <a:xfrm>
            <a:off x="10837291" y="5418709"/>
            <a:ext cx="609600" cy="609600"/>
          </a:xfrm>
          <a:prstGeom prst="ellipse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837291" y="5418709"/>
            <a:ext cx="609600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715371" y="5357749"/>
            <a:ext cx="8534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13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2130" dirty="0"/>
          </a:p>
        </p:txBody>
      </p:sp>
      <p:sp>
        <p:nvSpPr>
          <p:cNvPr id="50" name="Shape 48"/>
          <p:cNvSpPr/>
          <p:nvPr/>
        </p:nvSpPr>
        <p:spPr>
          <a:xfrm>
            <a:off x="11684000" y="5418709"/>
            <a:ext cx="7789291" cy="6096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1562080" y="5357749"/>
            <a:ext cx="8033131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outcome tracking</a:t>
            </a:r>
            <a:endParaRPr lang="en-US" sz="2400" dirty="0"/>
          </a:p>
        </p:txBody>
      </p:sp>
      <p:sp>
        <p:nvSpPr>
          <p:cNvPr id="52" name="Shape 50"/>
          <p:cNvSpPr/>
          <p:nvPr/>
        </p:nvSpPr>
        <p:spPr>
          <a:xfrm>
            <a:off x="10126091" y="2878709"/>
            <a:ext cx="33909" cy="3996309"/>
          </a:xfrm>
          <a:prstGeom prst="rect">
            <a:avLst/>
          </a:prstGeom>
          <a:solidFill>
            <a:srgbClr val="E0DD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16000" y="7112000"/>
            <a:ext cx="19642709" cy="3556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524000" y="7450709"/>
            <a:ext cx="5080000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402080" y="7389749"/>
            <a:ext cx="5323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CONTROLS</a:t>
            </a:r>
            <a:endParaRPr lang="en-US" sz="1870" dirty="0"/>
          </a:p>
        </p:txBody>
      </p:sp>
      <p:sp>
        <p:nvSpPr>
          <p:cNvPr id="56" name="Shape 54"/>
          <p:cNvSpPr/>
          <p:nvPr/>
        </p:nvSpPr>
        <p:spPr>
          <a:xfrm>
            <a:off x="1524000" y="8212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133600" y="8178800"/>
            <a:ext cx="3725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011680" y="8117840"/>
            <a:ext cx="3969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CGPA criteria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6434709" y="8212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044309" y="8178800"/>
            <a:ext cx="3725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922389" y="8117840"/>
            <a:ext cx="3969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Backlog restrictions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11345291" y="8212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1954891" y="8178800"/>
            <a:ext cx="3725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1832971" y="8117840"/>
            <a:ext cx="3969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eligibility</a:t>
            </a:r>
            <a:endParaRPr lang="en-US" sz="2400" dirty="0"/>
          </a:p>
        </p:txBody>
      </p:sp>
      <p:sp>
        <p:nvSpPr>
          <p:cNvPr id="65" name="Shape 63"/>
          <p:cNvSpPr/>
          <p:nvPr/>
        </p:nvSpPr>
        <p:spPr>
          <a:xfrm>
            <a:off x="1524000" y="905929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133600" y="9025509"/>
            <a:ext cx="3725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011680" y="8964549"/>
            <a:ext cx="3969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deadlines</a:t>
            </a:r>
            <a:endParaRPr lang="en-US" sz="2400" dirty="0"/>
          </a:p>
        </p:txBody>
      </p:sp>
      <p:sp>
        <p:nvSpPr>
          <p:cNvPr id="68" name="Shape 66"/>
          <p:cNvSpPr/>
          <p:nvPr/>
        </p:nvSpPr>
        <p:spPr>
          <a:xfrm>
            <a:off x="6434709" y="905929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044309" y="9025509"/>
            <a:ext cx="5080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922389" y="8964549"/>
            <a:ext cx="532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Institute placement policies</a:t>
            </a:r>
            <a:endParaRPr lang="en-US" sz="2400" dirty="0"/>
          </a:p>
        </p:txBody>
      </p:sp>
      <p:sp>
        <p:nvSpPr>
          <p:cNvPr id="71" name="Shape 69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 &amp; EMPLOYER JOURNEY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2116709"/>
            <a:ext cx="9398000" cy="609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6000" y="2116709"/>
            <a:ext cx="67691" cy="6096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24000" y="2506091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87784" y="21380"/>
                </a:moveTo>
                <a:cubicBezTo>
                  <a:pt x="277411" y="15453"/>
                  <a:pt x="264603" y="15453"/>
                  <a:pt x="254125" y="21380"/>
                </a:cubicBezTo>
                <a:lnTo>
                  <a:pt x="17040" y="156858"/>
                </a:lnTo>
                <a:cubicBezTo>
                  <a:pt x="3704" y="164478"/>
                  <a:pt x="-2858" y="180142"/>
                  <a:pt x="1059" y="194961"/>
                </a:cubicBezTo>
                <a:cubicBezTo>
                  <a:pt x="4975" y="209778"/>
                  <a:pt x="18523" y="220151"/>
                  <a:pt x="33869" y="220151"/>
                </a:cubicBezTo>
                <a:lnTo>
                  <a:pt x="67739" y="220151"/>
                </a:lnTo>
                <a:lnTo>
                  <a:pt x="67739" y="440301"/>
                </a:lnTo>
                <a:lnTo>
                  <a:pt x="67739" y="440301"/>
                </a:lnTo>
                <a:lnTo>
                  <a:pt x="13548" y="480944"/>
                </a:lnTo>
                <a:cubicBezTo>
                  <a:pt x="4975" y="487294"/>
                  <a:pt x="0" y="497350"/>
                  <a:pt x="0" y="508040"/>
                </a:cubicBezTo>
                <a:cubicBezTo>
                  <a:pt x="0" y="526773"/>
                  <a:pt x="15136" y="541909"/>
                  <a:pt x="33869" y="541909"/>
                </a:cubicBezTo>
                <a:lnTo>
                  <a:pt x="508040" y="541909"/>
                </a:lnTo>
                <a:cubicBezTo>
                  <a:pt x="526773" y="541909"/>
                  <a:pt x="541909" y="526773"/>
                  <a:pt x="541909" y="508040"/>
                </a:cubicBezTo>
                <a:cubicBezTo>
                  <a:pt x="541909" y="497350"/>
                  <a:pt x="536934" y="487294"/>
                  <a:pt x="528361" y="480944"/>
                </a:cubicBezTo>
                <a:lnTo>
                  <a:pt x="474170" y="440301"/>
                </a:lnTo>
                <a:lnTo>
                  <a:pt x="474170" y="220151"/>
                </a:lnTo>
                <a:lnTo>
                  <a:pt x="508040" y="220151"/>
                </a:lnTo>
                <a:cubicBezTo>
                  <a:pt x="523386" y="220151"/>
                  <a:pt x="536829" y="209778"/>
                  <a:pt x="540745" y="194961"/>
                </a:cubicBezTo>
                <a:cubicBezTo>
                  <a:pt x="544661" y="180142"/>
                  <a:pt x="538099" y="164478"/>
                  <a:pt x="524762" y="156858"/>
                </a:cubicBezTo>
                <a:lnTo>
                  <a:pt x="287677" y="21380"/>
                </a:lnTo>
                <a:close/>
                <a:moveTo>
                  <a:pt x="423366" y="220151"/>
                </a:moveTo>
                <a:lnTo>
                  <a:pt x="423366" y="440301"/>
                </a:lnTo>
                <a:lnTo>
                  <a:pt x="355628" y="440301"/>
                </a:lnTo>
                <a:lnTo>
                  <a:pt x="355628" y="220151"/>
                </a:lnTo>
                <a:lnTo>
                  <a:pt x="423366" y="220151"/>
                </a:lnTo>
                <a:close/>
                <a:moveTo>
                  <a:pt x="304824" y="220151"/>
                </a:moveTo>
                <a:lnTo>
                  <a:pt x="304824" y="440301"/>
                </a:lnTo>
                <a:lnTo>
                  <a:pt x="237085" y="440301"/>
                </a:lnTo>
                <a:lnTo>
                  <a:pt x="237085" y="220151"/>
                </a:lnTo>
                <a:lnTo>
                  <a:pt x="304824" y="220151"/>
                </a:lnTo>
                <a:close/>
                <a:moveTo>
                  <a:pt x="186281" y="220151"/>
                </a:moveTo>
                <a:lnTo>
                  <a:pt x="186281" y="440301"/>
                </a:lnTo>
                <a:lnTo>
                  <a:pt x="118543" y="440301"/>
                </a:lnTo>
                <a:lnTo>
                  <a:pt x="118543" y="220151"/>
                </a:lnTo>
                <a:lnTo>
                  <a:pt x="186281" y="220151"/>
                </a:lnTo>
                <a:close/>
                <a:moveTo>
                  <a:pt x="270955" y="101608"/>
                </a:moveTo>
                <a:cubicBezTo>
                  <a:pt x="289648" y="101608"/>
                  <a:pt x="304824" y="116784"/>
                  <a:pt x="304824" y="135477"/>
                </a:cubicBezTo>
                <a:cubicBezTo>
                  <a:pt x="304824" y="154171"/>
                  <a:pt x="289648" y="169347"/>
                  <a:pt x="270955" y="169347"/>
                </a:cubicBezTo>
                <a:cubicBezTo>
                  <a:pt x="252261" y="169347"/>
                  <a:pt x="237085" y="154171"/>
                  <a:pt x="237085" y="135477"/>
                </a:cubicBezTo>
                <a:cubicBezTo>
                  <a:pt x="237085" y="116784"/>
                  <a:pt x="252261" y="101608"/>
                  <a:pt x="270955" y="101608"/>
                </a:cubicBez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0" y="2506091"/>
            <a:ext cx="6773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64080" y="2445131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93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 Placement Office</a:t>
            </a:r>
            <a:endParaRPr lang="en-US" sz="2930" dirty="0"/>
          </a:p>
        </p:txBody>
      </p:sp>
      <p:sp>
        <p:nvSpPr>
          <p:cNvPr id="10" name="Shape 8"/>
          <p:cNvSpPr/>
          <p:nvPr/>
        </p:nvSpPr>
        <p:spPr>
          <a:xfrm>
            <a:off x="1524000" y="3386709"/>
            <a:ext cx="8382000" cy="4402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02080" y="3325749"/>
            <a:ext cx="8625840" cy="452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Approve employer partnerships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Manage student eligibility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Configure placement policies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Monitor hiring progress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Generate reports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260709" y="2116709"/>
            <a:ext cx="9398000" cy="6096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260709" y="2116709"/>
            <a:ext cx="67691" cy="60960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768709" y="2506091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11683" y="50804"/>
                </a:moveTo>
                <a:lnTo>
                  <a:pt x="330226" y="50804"/>
                </a:lnTo>
                <a:cubicBezTo>
                  <a:pt x="334882" y="50804"/>
                  <a:pt x="338693" y="54615"/>
                  <a:pt x="338693" y="59271"/>
                </a:cubicBezTo>
                <a:lnTo>
                  <a:pt x="338693" y="101608"/>
                </a:lnTo>
                <a:lnTo>
                  <a:pt x="203216" y="101608"/>
                </a:lnTo>
                <a:lnTo>
                  <a:pt x="203216" y="59271"/>
                </a:lnTo>
                <a:cubicBezTo>
                  <a:pt x="203216" y="54615"/>
                  <a:pt x="207027" y="50804"/>
                  <a:pt x="211683" y="50804"/>
                </a:cubicBezTo>
                <a:close/>
                <a:moveTo>
                  <a:pt x="152412" y="59271"/>
                </a:moveTo>
                <a:lnTo>
                  <a:pt x="152412" y="101608"/>
                </a:lnTo>
                <a:lnTo>
                  <a:pt x="67739" y="101608"/>
                </a:lnTo>
                <a:cubicBezTo>
                  <a:pt x="30377" y="101608"/>
                  <a:pt x="0" y="131985"/>
                  <a:pt x="0" y="169347"/>
                </a:cubicBezTo>
                <a:lnTo>
                  <a:pt x="0" y="270955"/>
                </a:lnTo>
                <a:lnTo>
                  <a:pt x="541909" y="270955"/>
                </a:lnTo>
                <a:lnTo>
                  <a:pt x="541909" y="169347"/>
                </a:lnTo>
                <a:cubicBezTo>
                  <a:pt x="541909" y="131985"/>
                  <a:pt x="511532" y="101608"/>
                  <a:pt x="474170" y="101608"/>
                </a:cubicBezTo>
                <a:lnTo>
                  <a:pt x="389497" y="101608"/>
                </a:lnTo>
                <a:lnTo>
                  <a:pt x="389497" y="59271"/>
                </a:lnTo>
                <a:cubicBezTo>
                  <a:pt x="389497" y="26566"/>
                  <a:pt x="362931" y="0"/>
                  <a:pt x="330226" y="0"/>
                </a:cubicBezTo>
                <a:lnTo>
                  <a:pt x="211683" y="0"/>
                </a:lnTo>
                <a:cubicBezTo>
                  <a:pt x="178978" y="0"/>
                  <a:pt x="152412" y="26566"/>
                  <a:pt x="152412" y="59271"/>
                </a:cubicBezTo>
                <a:close/>
                <a:moveTo>
                  <a:pt x="541909" y="321758"/>
                </a:moveTo>
                <a:lnTo>
                  <a:pt x="338693" y="321758"/>
                </a:lnTo>
                <a:lnTo>
                  <a:pt x="338693" y="338693"/>
                </a:lnTo>
                <a:cubicBezTo>
                  <a:pt x="338693" y="357427"/>
                  <a:pt x="323557" y="372562"/>
                  <a:pt x="304824" y="372562"/>
                </a:cubicBezTo>
                <a:lnTo>
                  <a:pt x="237085" y="372562"/>
                </a:lnTo>
                <a:cubicBezTo>
                  <a:pt x="218352" y="372562"/>
                  <a:pt x="203216" y="357427"/>
                  <a:pt x="203216" y="338693"/>
                </a:cubicBezTo>
                <a:lnTo>
                  <a:pt x="203216" y="321758"/>
                </a:lnTo>
                <a:lnTo>
                  <a:pt x="0" y="321758"/>
                </a:lnTo>
                <a:lnTo>
                  <a:pt x="0" y="440301"/>
                </a:lnTo>
                <a:cubicBezTo>
                  <a:pt x="0" y="477663"/>
                  <a:pt x="30377" y="508040"/>
                  <a:pt x="67739" y="508040"/>
                </a:cubicBezTo>
                <a:lnTo>
                  <a:pt x="474170" y="508040"/>
                </a:lnTo>
                <a:cubicBezTo>
                  <a:pt x="511532" y="508040"/>
                  <a:pt x="541909" y="477663"/>
                  <a:pt x="541909" y="440301"/>
                </a:cubicBezTo>
                <a:lnTo>
                  <a:pt x="541909" y="321758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530709" y="2506091"/>
            <a:ext cx="6773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408789" y="2445131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93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Employer</a:t>
            </a:r>
            <a:endParaRPr lang="en-US" sz="2930" dirty="0"/>
          </a:p>
        </p:txBody>
      </p:sp>
      <p:sp>
        <p:nvSpPr>
          <p:cNvPr id="17" name="Shape 15"/>
          <p:cNvSpPr/>
          <p:nvPr/>
        </p:nvSpPr>
        <p:spPr>
          <a:xfrm>
            <a:off x="11768709" y="3386709"/>
            <a:ext cx="8382000" cy="4402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46789" y="3325749"/>
            <a:ext cx="8625840" cy="452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Request campus partnerships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Publish opportunities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Conduct assessments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Schedule interviews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Record offers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16000" y="8805291"/>
            <a:ext cx="19642709" cy="1862709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24000" y="9228709"/>
            <a:ext cx="474091" cy="474091"/>
          </a:xfrm>
          <a:custGeom>
            <a:avLst/>
            <a:gdLst/>
            <a:ahLst/>
            <a:cxnLst/>
            <a:rect l="l" t="t" r="r" b="b"/>
            <a:pathLst>
              <a:path w="474091" h="474091">
                <a:moveTo>
                  <a:pt x="158030" y="88892"/>
                </a:moveTo>
                <a:lnTo>
                  <a:pt x="158030" y="148153"/>
                </a:lnTo>
                <a:lnTo>
                  <a:pt x="316061" y="148153"/>
                </a:lnTo>
                <a:lnTo>
                  <a:pt x="316061" y="88892"/>
                </a:lnTo>
                <a:cubicBezTo>
                  <a:pt x="316061" y="56206"/>
                  <a:pt x="280627" y="29631"/>
                  <a:pt x="237046" y="29631"/>
                </a:cubicBezTo>
                <a:cubicBezTo>
                  <a:pt x="193464" y="29631"/>
                  <a:pt x="158030" y="56206"/>
                  <a:pt x="158030" y="88892"/>
                </a:cubicBezTo>
                <a:close/>
                <a:moveTo>
                  <a:pt x="79016" y="148153"/>
                </a:moveTo>
                <a:lnTo>
                  <a:pt x="79016" y="88892"/>
                </a:lnTo>
                <a:cubicBezTo>
                  <a:pt x="79016" y="23427"/>
                  <a:pt x="149759" y="-29631"/>
                  <a:pt x="237046" y="-29631"/>
                </a:cubicBezTo>
                <a:cubicBezTo>
                  <a:pt x="324332" y="-29631"/>
                  <a:pt x="395075" y="23427"/>
                  <a:pt x="395075" y="88892"/>
                </a:cubicBezTo>
                <a:lnTo>
                  <a:pt x="395075" y="148153"/>
                </a:lnTo>
                <a:cubicBezTo>
                  <a:pt x="438658" y="148153"/>
                  <a:pt x="474091" y="174728"/>
                  <a:pt x="474091" y="207415"/>
                </a:cubicBezTo>
                <a:lnTo>
                  <a:pt x="474091" y="414830"/>
                </a:lnTo>
                <a:cubicBezTo>
                  <a:pt x="474091" y="447516"/>
                  <a:pt x="438658" y="474091"/>
                  <a:pt x="395075" y="474091"/>
                </a:cubicBezTo>
                <a:lnTo>
                  <a:pt x="79016" y="474091"/>
                </a:lnTo>
                <a:cubicBezTo>
                  <a:pt x="35433" y="474091"/>
                  <a:pt x="0" y="447516"/>
                  <a:pt x="0" y="414830"/>
                </a:cubicBezTo>
                <a:lnTo>
                  <a:pt x="0" y="207415"/>
                </a:lnTo>
                <a:cubicBezTo>
                  <a:pt x="0" y="174728"/>
                  <a:pt x="35433" y="148153"/>
                  <a:pt x="79016" y="148153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01291" y="9228709"/>
            <a:ext cx="5080000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79371" y="9167749"/>
            <a:ext cx="532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13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 MODEL</a:t>
            </a:r>
            <a:endParaRPr lang="en-US" sz="2130" dirty="0"/>
          </a:p>
        </p:txBody>
      </p:sp>
      <p:sp>
        <p:nvSpPr>
          <p:cNvPr id="23" name="Shape 21"/>
          <p:cNvSpPr/>
          <p:nvPr/>
        </p:nvSpPr>
        <p:spPr>
          <a:xfrm>
            <a:off x="1524000" y="9821291"/>
            <a:ext cx="18626709" cy="592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02080" y="9760331"/>
            <a:ext cx="1887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employer can interact with a campus until the partnership is </a:t>
            </a:r>
            <a:r>
              <a:rPr lang="en-US" sz="24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approved by that institution</a:t>
            </a: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PLACEMENT SEASON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96491"/>
            <a:ext cx="8466709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35531"/>
            <a:ext cx="871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workflow. Complete visibility.</a:t>
            </a:r>
            <a:endParaRPr lang="en-US" sz="2670" dirty="0"/>
          </a:p>
        </p:txBody>
      </p:sp>
      <p:sp>
        <p:nvSpPr>
          <p:cNvPr id="7" name="Shape 5"/>
          <p:cNvSpPr/>
          <p:nvPr/>
        </p:nvSpPr>
        <p:spPr>
          <a:xfrm>
            <a:off x="1016000" y="2794000"/>
            <a:ext cx="11514709" cy="7958709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54709" y="3048000"/>
            <a:ext cx="10837291" cy="6772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3291" y="3048000"/>
            <a:ext cx="1016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71371" y="2987040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Super Admin onboards College &amp; Employer</a:t>
            </a:r>
            <a:endParaRPr lang="en-US" sz="2130" dirty="0"/>
          </a:p>
        </p:txBody>
      </p:sp>
      <p:sp>
        <p:nvSpPr>
          <p:cNvPr id="11" name="Shape 9"/>
          <p:cNvSpPr/>
          <p:nvPr/>
        </p:nvSpPr>
        <p:spPr>
          <a:xfrm>
            <a:off x="6604000" y="3725291"/>
            <a:ext cx="0" cy="3048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54709" y="4030091"/>
            <a:ext cx="10837291" cy="6772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93291" y="4030091"/>
            <a:ext cx="1016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71371" y="3969131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College approves partnership</a:t>
            </a:r>
            <a:endParaRPr lang="en-US" sz="2130" dirty="0"/>
          </a:p>
        </p:txBody>
      </p:sp>
      <p:sp>
        <p:nvSpPr>
          <p:cNvPr id="15" name="Shape 13"/>
          <p:cNvSpPr/>
          <p:nvPr/>
        </p:nvSpPr>
        <p:spPr>
          <a:xfrm>
            <a:off x="6604000" y="4707509"/>
            <a:ext cx="0" cy="3048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54709" y="5012309"/>
            <a:ext cx="10837291" cy="677291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693291" y="5012309"/>
            <a:ext cx="1016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71371" y="4951349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Employer publishes opportunity</a:t>
            </a:r>
            <a:endParaRPr lang="en-US" sz="2130" dirty="0"/>
          </a:p>
        </p:txBody>
      </p:sp>
      <p:sp>
        <p:nvSpPr>
          <p:cNvPr id="19" name="Shape 17"/>
          <p:cNvSpPr/>
          <p:nvPr/>
        </p:nvSpPr>
        <p:spPr>
          <a:xfrm>
            <a:off x="6604000" y="5689600"/>
            <a:ext cx="0" cy="3048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54709" y="5994400"/>
            <a:ext cx="10837291" cy="677291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693291" y="5994400"/>
            <a:ext cx="1016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71371" y="5933440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College approves visibility</a:t>
            </a:r>
            <a:endParaRPr lang="en-US" sz="2130" dirty="0"/>
          </a:p>
        </p:txBody>
      </p:sp>
      <p:sp>
        <p:nvSpPr>
          <p:cNvPr id="23" name="Shape 21"/>
          <p:cNvSpPr/>
          <p:nvPr/>
        </p:nvSpPr>
        <p:spPr>
          <a:xfrm>
            <a:off x="6604000" y="6671691"/>
            <a:ext cx="0" cy="3048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54709" y="6976491"/>
            <a:ext cx="10837291" cy="677291"/>
          </a:xfrm>
          <a:prstGeom prst="rect">
            <a:avLst/>
          </a:pr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693291" y="6976491"/>
            <a:ext cx="1016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71371" y="6915531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Students apply</a:t>
            </a:r>
            <a:endParaRPr lang="en-US" sz="2130" dirty="0"/>
          </a:p>
        </p:txBody>
      </p:sp>
      <p:sp>
        <p:nvSpPr>
          <p:cNvPr id="27" name="Shape 25"/>
          <p:cNvSpPr/>
          <p:nvPr/>
        </p:nvSpPr>
        <p:spPr>
          <a:xfrm>
            <a:off x="6604000" y="7653909"/>
            <a:ext cx="0" cy="3048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54709" y="7958709"/>
            <a:ext cx="10837291" cy="677291"/>
          </a:xfrm>
          <a:prstGeom prst="rect">
            <a:avLst/>
          </a:pr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693291" y="7958709"/>
            <a:ext cx="1016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571371" y="7897749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Assessments &amp; interviews</a:t>
            </a:r>
            <a:endParaRPr lang="en-US" sz="2130" dirty="0"/>
          </a:p>
        </p:txBody>
      </p:sp>
      <p:sp>
        <p:nvSpPr>
          <p:cNvPr id="31" name="Shape 29"/>
          <p:cNvSpPr/>
          <p:nvPr/>
        </p:nvSpPr>
        <p:spPr>
          <a:xfrm>
            <a:off x="6604000" y="8636000"/>
            <a:ext cx="0" cy="3048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354709" y="8940800"/>
            <a:ext cx="10837291" cy="6772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693291" y="8940800"/>
            <a:ext cx="1016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71371" y="8879840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Offers issued</a:t>
            </a:r>
            <a:endParaRPr lang="en-US" sz="2130" dirty="0"/>
          </a:p>
        </p:txBody>
      </p:sp>
      <p:sp>
        <p:nvSpPr>
          <p:cNvPr id="35" name="Shape 33"/>
          <p:cNvSpPr/>
          <p:nvPr/>
        </p:nvSpPr>
        <p:spPr>
          <a:xfrm>
            <a:off x="6604000" y="9618091"/>
            <a:ext cx="0" cy="304800"/>
          </a:xfrm>
          <a:prstGeom prst="straightConnector1">
            <a:avLst/>
          </a:prstGeom>
          <a:noFill/>
          <a:ln w="25400">
            <a:solidFill>
              <a:srgbClr val="C495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354709" y="9922891"/>
            <a:ext cx="10837291" cy="6772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693291" y="9922891"/>
            <a:ext cx="10160000" cy="67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571371" y="9861931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13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Placement rules enforced</a:t>
            </a:r>
            <a:endParaRPr lang="en-US" sz="2130" dirty="0"/>
          </a:p>
        </p:txBody>
      </p:sp>
      <p:sp>
        <p:nvSpPr>
          <p:cNvPr id="39" name="Shape 37"/>
          <p:cNvSpPr/>
          <p:nvPr/>
        </p:nvSpPr>
        <p:spPr>
          <a:xfrm>
            <a:off x="13208000" y="2794000"/>
            <a:ext cx="7450709" cy="7958709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3716000" y="3217291"/>
            <a:ext cx="5080000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3594080" y="3156331"/>
            <a:ext cx="532384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FLEXIBILITY</a:t>
            </a:r>
            <a:endParaRPr lang="en-US" sz="1870" dirty="0"/>
          </a:p>
        </p:txBody>
      </p:sp>
      <p:sp>
        <p:nvSpPr>
          <p:cNvPr id="42" name="Shape 40"/>
          <p:cNvSpPr/>
          <p:nvPr/>
        </p:nvSpPr>
        <p:spPr>
          <a:xfrm>
            <a:off x="13716000" y="406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4325600" y="4030091"/>
            <a:ext cx="5757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4203680" y="3969131"/>
            <a:ext cx="600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result management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13716000" y="4910709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4325600" y="4876800"/>
            <a:ext cx="5757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4203680" y="4815840"/>
            <a:ext cx="600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export/import workflows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13716000" y="5757291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325600" y="5723509"/>
            <a:ext cx="5757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4203680" y="5662549"/>
            <a:ext cx="600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Read-only institutional visibility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13716000" y="660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2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3" y="279717"/>
                  <a:pt x="179069" y="276860"/>
                  <a:pt x="175340" y="271780"/>
                </a:cubicBezTo>
                <a:lnTo>
                  <a:pt x="137240" y="220980"/>
                </a:lnTo>
                <a:cubicBezTo>
                  <a:pt x="130889" y="212567"/>
                  <a:pt x="132636" y="200660"/>
                  <a:pt x="141049" y="194311"/>
                </a:cubicBezTo>
                <a:cubicBezTo>
                  <a:pt x="149463" y="187960"/>
                  <a:pt x="161369" y="189707"/>
                  <a:pt x="167720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80"/>
                  <a:pt x="255191" y="137001"/>
                  <a:pt x="264160" y="142637"/>
                </a:cubicBezTo>
                <a:cubicBezTo>
                  <a:pt x="273129" y="148272"/>
                  <a:pt x="275828" y="159940"/>
                  <a:pt x="270192" y="168911"/>
                </a:cubicBez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4325600" y="6570091"/>
            <a:ext cx="5757291" cy="4740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4203680" y="6509131"/>
            <a:ext cx="600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outcome tracking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13716000" y="7789291"/>
            <a:ext cx="6434709" cy="237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3594080" y="7728331"/>
            <a:ext cx="6678549" cy="249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step in the workflow generates audit trails and reporting data, giving placement offices complete visibility into their hiring season.</a:t>
            </a:r>
            <a:endParaRPr lang="en-US" sz="2130" dirty="0"/>
          </a:p>
        </p:txBody>
      </p:sp>
      <p:sp>
        <p:nvSpPr>
          <p:cNvPr id="56" name="Shape 54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STRENGTHS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96491"/>
            <a:ext cx="10160000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35531"/>
            <a:ext cx="10403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real campus operations.</a:t>
            </a:r>
            <a:endParaRPr lang="en-US" sz="2670" dirty="0"/>
          </a:p>
        </p:txBody>
      </p:sp>
      <p:sp>
        <p:nvSpPr>
          <p:cNvPr id="7" name="Shape 5"/>
          <p:cNvSpPr/>
          <p:nvPr/>
        </p:nvSpPr>
        <p:spPr>
          <a:xfrm>
            <a:off x="1016000" y="2878709"/>
            <a:ext cx="9398000" cy="4064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6000" y="2878709"/>
            <a:ext cx="9398000" cy="67691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24000" y="3302000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70955" y="0"/>
                </a:moveTo>
                <a:cubicBezTo>
                  <a:pt x="275823" y="0"/>
                  <a:pt x="280693" y="1059"/>
                  <a:pt x="285137" y="3070"/>
                </a:cubicBezTo>
                <a:lnTo>
                  <a:pt x="484543" y="87638"/>
                </a:lnTo>
                <a:cubicBezTo>
                  <a:pt x="507828" y="97480"/>
                  <a:pt x="525186" y="120448"/>
                  <a:pt x="525080" y="148178"/>
                </a:cubicBezTo>
                <a:cubicBezTo>
                  <a:pt x="524552" y="253173"/>
                  <a:pt x="481368" y="445276"/>
                  <a:pt x="299002" y="532595"/>
                </a:cubicBezTo>
                <a:cubicBezTo>
                  <a:pt x="281327" y="541062"/>
                  <a:pt x="260794" y="541062"/>
                  <a:pt x="243118" y="532595"/>
                </a:cubicBezTo>
                <a:cubicBezTo>
                  <a:pt x="60647" y="445276"/>
                  <a:pt x="17569" y="253173"/>
                  <a:pt x="17040" y="148178"/>
                </a:cubicBezTo>
                <a:cubicBezTo>
                  <a:pt x="16935" y="120448"/>
                  <a:pt x="34292" y="97480"/>
                  <a:pt x="57578" y="87638"/>
                </a:cubicBezTo>
                <a:lnTo>
                  <a:pt x="256877" y="3070"/>
                </a:lnTo>
                <a:cubicBezTo>
                  <a:pt x="261323" y="1059"/>
                  <a:pt x="266086" y="0"/>
                  <a:pt x="270955" y="0"/>
                </a:cubicBezTo>
                <a:close/>
                <a:moveTo>
                  <a:pt x="270955" y="70702"/>
                </a:moveTo>
                <a:lnTo>
                  <a:pt x="270955" y="470889"/>
                </a:lnTo>
                <a:cubicBezTo>
                  <a:pt x="417017" y="400187"/>
                  <a:pt x="456284" y="243542"/>
                  <a:pt x="457236" y="149766"/>
                </a:cubicBezTo>
                <a:lnTo>
                  <a:pt x="270955" y="70808"/>
                </a:lnTo>
                <a:lnTo>
                  <a:pt x="270955" y="70808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0" y="3302000"/>
            <a:ext cx="6773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64080" y="3241040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93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endParaRPr lang="en-US" sz="2930" dirty="0"/>
          </a:p>
        </p:txBody>
      </p:sp>
      <p:sp>
        <p:nvSpPr>
          <p:cNvPr id="12" name="Shape 10"/>
          <p:cNvSpPr/>
          <p:nvPr/>
        </p:nvSpPr>
        <p:spPr>
          <a:xfrm>
            <a:off x="1524000" y="4148709"/>
            <a:ext cx="8382000" cy="237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02080" y="4087749"/>
            <a:ext cx="8625840" cy="249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Partnership approval workflow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Visibility controls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Role-based permissions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260709" y="2878709"/>
            <a:ext cx="9398000" cy="4064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260709" y="2878709"/>
            <a:ext cx="9398000" cy="676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768709" y="3302000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439454" y="33869"/>
                </a:moveTo>
                <a:lnTo>
                  <a:pt x="451591" y="33869"/>
                </a:lnTo>
                <a:cubicBezTo>
                  <a:pt x="501407" y="33869"/>
                  <a:pt x="541909" y="64246"/>
                  <a:pt x="541909" y="101608"/>
                </a:cubicBezTo>
                <a:lnTo>
                  <a:pt x="541909" y="474170"/>
                </a:lnTo>
                <a:cubicBezTo>
                  <a:pt x="541909" y="511532"/>
                  <a:pt x="501407" y="541909"/>
                  <a:pt x="451591" y="541909"/>
                </a:cubicBezTo>
                <a:lnTo>
                  <a:pt x="90318" y="541909"/>
                </a:lnTo>
                <a:cubicBezTo>
                  <a:pt x="40502" y="541909"/>
                  <a:pt x="0" y="511532"/>
                  <a:pt x="0" y="474170"/>
                </a:cubicBezTo>
                <a:lnTo>
                  <a:pt x="0" y="101608"/>
                </a:lnTo>
                <a:cubicBezTo>
                  <a:pt x="0" y="64246"/>
                  <a:pt x="40502" y="33869"/>
                  <a:pt x="90318" y="33869"/>
                </a:cubicBezTo>
                <a:lnTo>
                  <a:pt x="102455" y="33869"/>
                </a:lnTo>
                <a:cubicBezTo>
                  <a:pt x="117979" y="13653"/>
                  <a:pt x="147190" y="0"/>
                  <a:pt x="180637" y="0"/>
                </a:cubicBezTo>
                <a:lnTo>
                  <a:pt x="361272" y="0"/>
                </a:lnTo>
                <a:cubicBezTo>
                  <a:pt x="394719" y="0"/>
                  <a:pt x="423930" y="13653"/>
                  <a:pt x="439454" y="33869"/>
                </a:cubicBezTo>
                <a:close/>
                <a:moveTo>
                  <a:pt x="349983" y="118543"/>
                </a:moveTo>
                <a:cubicBezTo>
                  <a:pt x="368753" y="118543"/>
                  <a:pt x="383853" y="107218"/>
                  <a:pt x="383853" y="93141"/>
                </a:cubicBezTo>
                <a:cubicBezTo>
                  <a:pt x="383853" y="79064"/>
                  <a:pt x="368753" y="67739"/>
                  <a:pt x="349983" y="67739"/>
                </a:cubicBezTo>
                <a:lnTo>
                  <a:pt x="191926" y="67739"/>
                </a:lnTo>
                <a:cubicBezTo>
                  <a:pt x="173158" y="67739"/>
                  <a:pt x="158056" y="79064"/>
                  <a:pt x="158056" y="93141"/>
                </a:cubicBezTo>
                <a:cubicBezTo>
                  <a:pt x="158056" y="107218"/>
                  <a:pt x="173158" y="118543"/>
                  <a:pt x="191926" y="118543"/>
                </a:cubicBezTo>
                <a:lnTo>
                  <a:pt x="349983" y="118543"/>
                </a:lnTo>
                <a:close/>
                <a:moveTo>
                  <a:pt x="390061" y="275930"/>
                </a:moveTo>
                <a:cubicBezTo>
                  <a:pt x="399941" y="264075"/>
                  <a:pt x="395142" y="248410"/>
                  <a:pt x="379336" y="240896"/>
                </a:cubicBezTo>
                <a:cubicBezTo>
                  <a:pt x="363531" y="233381"/>
                  <a:pt x="342644" y="237085"/>
                  <a:pt x="332625" y="248939"/>
                </a:cubicBezTo>
                <a:lnTo>
                  <a:pt x="245975" y="352982"/>
                </a:lnTo>
                <a:lnTo>
                  <a:pt x="207872" y="314879"/>
                </a:lnTo>
                <a:cubicBezTo>
                  <a:pt x="196583" y="303660"/>
                  <a:pt x="175415" y="301332"/>
                  <a:pt x="160455" y="309799"/>
                </a:cubicBezTo>
                <a:cubicBezTo>
                  <a:pt x="145497" y="318266"/>
                  <a:pt x="142392" y="334142"/>
                  <a:pt x="153681" y="345362"/>
                </a:cubicBezTo>
                <a:lnTo>
                  <a:pt x="221420" y="413100"/>
                </a:lnTo>
                <a:cubicBezTo>
                  <a:pt x="228054" y="419767"/>
                  <a:pt x="238779" y="423578"/>
                  <a:pt x="249928" y="423261"/>
                </a:cubicBezTo>
                <a:cubicBezTo>
                  <a:pt x="261076" y="422944"/>
                  <a:pt x="271237" y="418498"/>
                  <a:pt x="277164" y="411300"/>
                </a:cubicBezTo>
                <a:lnTo>
                  <a:pt x="390061" y="275823"/>
                </a:lnTo>
                <a:close/>
              </a:path>
            </a:pathLst>
          </a:cu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530709" y="3302000"/>
            <a:ext cx="6773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408789" y="3241040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93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</a:t>
            </a:r>
            <a:endParaRPr lang="en-US" sz="2930" dirty="0"/>
          </a:p>
        </p:txBody>
      </p:sp>
      <p:sp>
        <p:nvSpPr>
          <p:cNvPr id="19" name="Shape 17"/>
          <p:cNvSpPr/>
          <p:nvPr/>
        </p:nvSpPr>
        <p:spPr>
          <a:xfrm>
            <a:off x="11768709" y="4148709"/>
            <a:ext cx="8382000" cy="237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646789" y="4087749"/>
            <a:ext cx="8625840" cy="249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Audit logs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Email logs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Activity history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16000" y="7450709"/>
            <a:ext cx="9398000" cy="3386709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16000" y="7450709"/>
            <a:ext cx="9398000" cy="67691"/>
          </a:xfrm>
          <a:prstGeom prst="rect">
            <a:avLst/>
          </a:pr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24000" y="7874000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67739" y="67739"/>
                </a:moveTo>
                <a:cubicBezTo>
                  <a:pt x="67739" y="49005"/>
                  <a:pt x="52603" y="33869"/>
                  <a:pt x="33869" y="33869"/>
                </a:cubicBezTo>
                <a:cubicBezTo>
                  <a:pt x="15136" y="33869"/>
                  <a:pt x="0" y="49005"/>
                  <a:pt x="0" y="67739"/>
                </a:cubicBezTo>
                <a:lnTo>
                  <a:pt x="0" y="423366"/>
                </a:lnTo>
                <a:cubicBezTo>
                  <a:pt x="0" y="470149"/>
                  <a:pt x="37891" y="508040"/>
                  <a:pt x="84673" y="508040"/>
                </a:cubicBezTo>
                <a:lnTo>
                  <a:pt x="508040" y="508040"/>
                </a:lnTo>
                <a:cubicBezTo>
                  <a:pt x="526773" y="508040"/>
                  <a:pt x="541909" y="492904"/>
                  <a:pt x="541909" y="474170"/>
                </a:cubicBezTo>
                <a:cubicBezTo>
                  <a:pt x="541909" y="455437"/>
                  <a:pt x="526773" y="440301"/>
                  <a:pt x="508040" y="440301"/>
                </a:cubicBezTo>
                <a:lnTo>
                  <a:pt x="84673" y="440301"/>
                </a:lnTo>
                <a:cubicBezTo>
                  <a:pt x="75359" y="440301"/>
                  <a:pt x="67739" y="432680"/>
                  <a:pt x="67739" y="423366"/>
                </a:cubicBezTo>
                <a:lnTo>
                  <a:pt x="67739" y="67739"/>
                </a:lnTo>
                <a:close/>
                <a:moveTo>
                  <a:pt x="498091" y="159398"/>
                </a:moveTo>
                <a:cubicBezTo>
                  <a:pt x="511321" y="146167"/>
                  <a:pt x="511321" y="124682"/>
                  <a:pt x="498091" y="111451"/>
                </a:cubicBezTo>
                <a:cubicBezTo>
                  <a:pt x="484861" y="98221"/>
                  <a:pt x="463375" y="98221"/>
                  <a:pt x="450144" y="111451"/>
                </a:cubicBezTo>
                <a:lnTo>
                  <a:pt x="338693" y="223008"/>
                </a:lnTo>
                <a:lnTo>
                  <a:pt x="277940" y="162361"/>
                </a:lnTo>
                <a:cubicBezTo>
                  <a:pt x="264710" y="149130"/>
                  <a:pt x="243224" y="149130"/>
                  <a:pt x="229994" y="162361"/>
                </a:cubicBezTo>
                <a:lnTo>
                  <a:pt x="128386" y="263969"/>
                </a:lnTo>
                <a:cubicBezTo>
                  <a:pt x="115156" y="277199"/>
                  <a:pt x="115156" y="298685"/>
                  <a:pt x="128386" y="311915"/>
                </a:cubicBezTo>
                <a:cubicBezTo>
                  <a:pt x="141616" y="325145"/>
                  <a:pt x="163102" y="325145"/>
                  <a:pt x="176332" y="311915"/>
                </a:cubicBezTo>
                <a:lnTo>
                  <a:pt x="254020" y="234228"/>
                </a:lnTo>
                <a:lnTo>
                  <a:pt x="314773" y="294980"/>
                </a:lnTo>
                <a:cubicBezTo>
                  <a:pt x="328003" y="308211"/>
                  <a:pt x="349489" y="308211"/>
                  <a:pt x="362719" y="294980"/>
                </a:cubicBezTo>
                <a:lnTo>
                  <a:pt x="498196" y="159503"/>
                </a:lnTo>
                <a:close/>
              </a:path>
            </a:pathLst>
          </a:custGeom>
          <a:solidFill>
            <a:srgbClr val="6B7B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286000" y="7874000"/>
            <a:ext cx="6773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64080" y="7813040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93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Reporting</a:t>
            </a:r>
            <a:endParaRPr lang="en-US" sz="2930" dirty="0"/>
          </a:p>
        </p:txBody>
      </p:sp>
      <p:sp>
        <p:nvSpPr>
          <p:cNvPr id="26" name="Shape 24"/>
          <p:cNvSpPr/>
          <p:nvPr/>
        </p:nvSpPr>
        <p:spPr>
          <a:xfrm>
            <a:off x="1524000" y="8720709"/>
            <a:ext cx="8382000" cy="194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402080" y="8659749"/>
            <a:ext cx="8625840" cy="206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Placement analytics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Student and employer reports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Exportable data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1260709" y="7450709"/>
            <a:ext cx="9398000" cy="3386709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260709" y="7450709"/>
            <a:ext cx="9398000" cy="67691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768709" y="7874000"/>
            <a:ext cx="541909" cy="541909"/>
          </a:xfrm>
          <a:custGeom>
            <a:avLst/>
            <a:gdLst/>
            <a:ahLst/>
            <a:cxnLst/>
            <a:rect l="l" t="t" r="r" b="b"/>
            <a:pathLst>
              <a:path w="541909" h="541909">
                <a:moveTo>
                  <a:pt x="22579" y="67739"/>
                </a:moveTo>
                <a:cubicBezTo>
                  <a:pt x="22579" y="30377"/>
                  <a:pt x="63082" y="0"/>
                  <a:pt x="112898" y="0"/>
                </a:cubicBezTo>
                <a:lnTo>
                  <a:pt x="429011" y="0"/>
                </a:lnTo>
                <a:cubicBezTo>
                  <a:pt x="478828" y="0"/>
                  <a:pt x="519330" y="30377"/>
                  <a:pt x="519330" y="67739"/>
                </a:cubicBezTo>
                <a:lnTo>
                  <a:pt x="519330" y="474170"/>
                </a:lnTo>
                <a:cubicBezTo>
                  <a:pt x="519330" y="511532"/>
                  <a:pt x="478828" y="541909"/>
                  <a:pt x="429011" y="541909"/>
                </a:cubicBezTo>
                <a:lnTo>
                  <a:pt x="112898" y="541909"/>
                </a:lnTo>
                <a:cubicBezTo>
                  <a:pt x="63082" y="541909"/>
                  <a:pt x="22579" y="511532"/>
                  <a:pt x="22579" y="474170"/>
                </a:cubicBezTo>
                <a:lnTo>
                  <a:pt x="22579" y="67739"/>
                </a:lnTo>
                <a:close/>
                <a:moveTo>
                  <a:pt x="180637" y="465703"/>
                </a:moveTo>
                <a:cubicBezTo>
                  <a:pt x="180637" y="479780"/>
                  <a:pt x="195737" y="491105"/>
                  <a:pt x="214506" y="491105"/>
                </a:cubicBezTo>
                <a:lnTo>
                  <a:pt x="327403" y="491105"/>
                </a:lnTo>
                <a:cubicBezTo>
                  <a:pt x="346172" y="491105"/>
                  <a:pt x="361272" y="479780"/>
                  <a:pt x="361272" y="465703"/>
                </a:cubicBezTo>
                <a:cubicBezTo>
                  <a:pt x="361272" y="451626"/>
                  <a:pt x="346172" y="440301"/>
                  <a:pt x="327403" y="440301"/>
                </a:cubicBezTo>
                <a:lnTo>
                  <a:pt x="214506" y="440301"/>
                </a:lnTo>
                <a:cubicBezTo>
                  <a:pt x="195737" y="440301"/>
                  <a:pt x="180637" y="451626"/>
                  <a:pt x="180637" y="465703"/>
                </a:cubicBezTo>
                <a:close/>
                <a:moveTo>
                  <a:pt x="429011" y="67739"/>
                </a:moveTo>
                <a:lnTo>
                  <a:pt x="112898" y="67739"/>
                </a:lnTo>
                <a:lnTo>
                  <a:pt x="112898" y="389497"/>
                </a:lnTo>
                <a:lnTo>
                  <a:pt x="429011" y="389497"/>
                </a:lnTo>
                <a:lnTo>
                  <a:pt x="429011" y="67739"/>
                </a:lnTo>
                <a:close/>
              </a:path>
            </a:pathLst>
          </a:cu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2530709" y="7874000"/>
            <a:ext cx="6773291" cy="5419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2408789" y="7813040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930" b="1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Experience</a:t>
            </a:r>
            <a:endParaRPr lang="en-US" sz="2930" dirty="0"/>
          </a:p>
        </p:txBody>
      </p:sp>
      <p:sp>
        <p:nvSpPr>
          <p:cNvPr id="33" name="Shape 31"/>
          <p:cNvSpPr/>
          <p:nvPr/>
        </p:nvSpPr>
        <p:spPr>
          <a:xfrm>
            <a:off x="11768709" y="8720709"/>
            <a:ext cx="8382000" cy="1947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646789" y="8659749"/>
            <a:ext cx="8625840" cy="206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Mobile-friendly workflows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Dark and light themes</a:t>
            </a:r>
            <a:endParaRPr lang="en-US" sz="2400" dirty="0"/>
          </a:p>
          <a:p>
            <a:pPr algn="l">
              <a:lnSpc>
                <a:spcPct val="17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Guided help and documentation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15240000" cy="711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4080" y="701040"/>
            <a:ext cx="15483840" cy="833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400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STATUS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16000" y="1557909"/>
            <a:ext cx="84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6000" y="1896491"/>
            <a:ext cx="8466709" cy="508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4080" y="1835531"/>
            <a:ext cx="871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67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update — June 2026.</a:t>
            </a:r>
            <a:endParaRPr lang="en-US" sz="2670" dirty="0"/>
          </a:p>
        </p:txBody>
      </p:sp>
      <p:sp>
        <p:nvSpPr>
          <p:cNvPr id="7" name="Shape 5"/>
          <p:cNvSpPr/>
          <p:nvPr/>
        </p:nvSpPr>
        <p:spPr>
          <a:xfrm>
            <a:off x="1016000" y="2794000"/>
            <a:ext cx="9398000" cy="6265291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16000" y="2794000"/>
            <a:ext cx="9398000" cy="67691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24000" y="3132709"/>
            <a:ext cx="3386709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02080" y="3071749"/>
            <a:ext cx="3630549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COMPLETED</a:t>
            </a:r>
            <a:endParaRPr lang="en-US" sz="1870" dirty="0"/>
          </a:p>
        </p:txBody>
      </p:sp>
      <p:sp>
        <p:nvSpPr>
          <p:cNvPr id="11" name="Shape 9"/>
          <p:cNvSpPr/>
          <p:nvPr/>
        </p:nvSpPr>
        <p:spPr>
          <a:xfrm>
            <a:off x="1524000" y="3810000"/>
            <a:ext cx="8382000" cy="491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02080" y="3749040"/>
            <a:ext cx="8625840" cy="503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Multi-tenant architecture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Student workflows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Employer workflows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Placement office workflows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Opportunity management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Reporting foundation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Sandbox deployment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260709" y="2794000"/>
            <a:ext cx="9398000" cy="6265291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50800" dir="60000" algn="bl" rotWithShape="0">
              <a:srgbClr val="000000">
                <a:alpha val="470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260709" y="2794000"/>
            <a:ext cx="9398000" cy="67691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768709" y="3132709"/>
            <a:ext cx="3386709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646789" y="3071749"/>
            <a:ext cx="3630549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70" kern="0" spc="267" dirty="0">
                <a:solidFill>
                  <a:srgbClr val="1E2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FOCUS</a:t>
            </a:r>
            <a:endParaRPr lang="en-US" sz="1870" dirty="0"/>
          </a:p>
        </p:txBody>
      </p:sp>
      <p:sp>
        <p:nvSpPr>
          <p:cNvPr id="17" name="Shape 15"/>
          <p:cNvSpPr/>
          <p:nvPr/>
        </p:nvSpPr>
        <p:spPr>
          <a:xfrm>
            <a:off x="11768709" y="3810000"/>
            <a:ext cx="8382000" cy="4910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646789" y="3749040"/>
            <a:ext cx="8625840" cy="503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User testing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Pilot institution onboarding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Feedback incorporation</a:t>
            </a:r>
            <a:endParaRPr lang="en-US" sz="2400" dirty="0"/>
          </a:p>
          <a:p>
            <a:pPr algn="l">
              <a:lnSpc>
                <a:spcPct val="180000"/>
              </a:lnSpc>
            </a:pPr>
            <a:r>
              <a:rPr lang="en-US" sz="2400" dirty="0">
                <a:solidFill>
                  <a:srgbClr val="1E2D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 Production readiness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16000" y="9652000"/>
            <a:ext cx="19642709" cy="10160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24000" y="9652000"/>
            <a:ext cx="3386709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02080" y="9591040"/>
            <a:ext cx="3630549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STAGE</a:t>
            </a:r>
            <a:endParaRPr lang="en-US" sz="1870" dirty="0"/>
          </a:p>
        </p:txBody>
      </p:sp>
      <p:sp>
        <p:nvSpPr>
          <p:cNvPr id="22" name="Shape 20"/>
          <p:cNvSpPr/>
          <p:nvPr/>
        </p:nvSpPr>
        <p:spPr>
          <a:xfrm>
            <a:off x="5080000" y="9652000"/>
            <a:ext cx="15070709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58080" y="9591040"/>
            <a:ext cx="15314549" cy="1137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67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Pilot-ready sandbox environment.</a:t>
            </a:r>
            <a:endParaRPr lang="en-US" sz="2670" dirty="0"/>
          </a:p>
        </p:txBody>
      </p:sp>
      <p:sp>
        <p:nvSpPr>
          <p:cNvPr id="24" name="Shape 22"/>
          <p:cNvSpPr/>
          <p:nvPr/>
        </p:nvSpPr>
        <p:spPr>
          <a:xfrm>
            <a:off x="1016000" y="11514709"/>
            <a:ext cx="19642709" cy="33909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949291" y="11650091"/>
            <a:ext cx="2709291" cy="338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7827371" y="11589131"/>
            <a:ext cx="2953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730" kern="0" spc="267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xb2fq63el4tjc/mnt/agents/output/placementhub_converted/images/image_2.png"/>
          <p:cNvPicPr>
            <a:picLocks noChangeAspect="1"/>
          </p:cNvPicPr>
          <p:nvPr/>
        </p:nvPicPr>
        <p:blipFill>
          <a:blip r:embed="rId3"/>
          <a:srcRect t="19460" b="19460"/>
          <a:stretch/>
        </p:blipFill>
        <p:spPr>
          <a:xfrm>
            <a:off x="0" y="0"/>
            <a:ext cx="21674709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1674709" cy="12192000"/>
          </a:xfrm>
          <a:prstGeom prst="rect">
            <a:avLst/>
          </a:prstGeom>
          <a:gradFill flip="none" rotWithShape="1">
            <a:gsLst>
              <a:gs pos="0">
                <a:srgbClr val="1E2D3D">
                  <a:alpha val="94000"/>
                </a:srgbClr>
              </a:gs>
              <a:gs pos="50000">
                <a:srgbClr val="1E2D3D">
                  <a:alpha val="82000"/>
                </a:srgbClr>
              </a:gs>
              <a:gs pos="100000">
                <a:srgbClr val="1E2D3D">
                  <a:alpha val="63000"/>
                </a:srgbClr>
              </a:gs>
            </a:gsLst>
            <a:lin ang="5400000" scaled="1"/>
          </a:gra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9144000" y="2201291"/>
            <a:ext cx="3386709" cy="50800"/>
          </a:xfrm>
          <a:prstGeom prst="rect">
            <a:avLst/>
          </a:prstGeom>
          <a:solidFill>
            <a:srgbClr val="C495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370709" y="2540000"/>
            <a:ext cx="16933291" cy="11852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248789" y="2479040"/>
            <a:ext cx="17177131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930" kern="0" spc="533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6930" dirty="0"/>
          </a:p>
        </p:txBody>
      </p:sp>
      <p:sp>
        <p:nvSpPr>
          <p:cNvPr id="7" name="Shape 4"/>
          <p:cNvSpPr/>
          <p:nvPr/>
        </p:nvSpPr>
        <p:spPr>
          <a:xfrm>
            <a:off x="3217291" y="3810000"/>
            <a:ext cx="15240000" cy="592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95371" y="3749040"/>
            <a:ext cx="15483840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70" b="1" dirty="0">
                <a:solidFill>
                  <a:srgbClr val="C495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Operating System for Campus Placements and Industry Engagement</a:t>
            </a:r>
            <a:endParaRPr lang="en-US" sz="2670" dirty="0"/>
          </a:p>
        </p:txBody>
      </p:sp>
      <p:sp>
        <p:nvSpPr>
          <p:cNvPr id="9" name="Shape 6"/>
          <p:cNvSpPr/>
          <p:nvPr/>
        </p:nvSpPr>
        <p:spPr>
          <a:xfrm>
            <a:off x="7450709" y="4741291"/>
            <a:ext cx="6773291" cy="16891"/>
          </a:xfrm>
          <a:prstGeom prst="rect">
            <a:avLst/>
          </a:prstGeom>
          <a:solidFill>
            <a:srgbClr val="F5F3EF">
              <a:alpha val="61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370709" y="5080000"/>
            <a:ext cx="16933291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48789" y="5019040"/>
            <a:ext cx="17177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NEXT STEPS</a:t>
            </a:r>
            <a:endParaRPr lang="en-US" sz="1870" dirty="0"/>
          </a:p>
        </p:txBody>
      </p:sp>
      <p:sp>
        <p:nvSpPr>
          <p:cNvPr id="12" name="Shape 9"/>
          <p:cNvSpPr/>
          <p:nvPr/>
        </p:nvSpPr>
        <p:spPr>
          <a:xfrm>
            <a:off x="4064000" y="5672709"/>
            <a:ext cx="13546709" cy="279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942080" y="5611749"/>
            <a:ext cx="13790549" cy="291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deployment with one institution</a:t>
            </a:r>
            <a:endParaRPr lang="en-US" sz="2130" dirty="0"/>
          </a:p>
          <a:p>
            <a:pPr algn="ctr">
              <a:lnSpc>
                <a:spcPct val="17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 2–3 employer partners</a:t>
            </a:r>
            <a:endParaRPr lang="en-US" sz="2130" dirty="0"/>
          </a:p>
          <a:p>
            <a:pPr algn="ctr">
              <a:lnSpc>
                <a:spcPct val="17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data migration and onboarding</a:t>
            </a:r>
            <a:endParaRPr lang="en-US" sz="2130" dirty="0"/>
          </a:p>
          <a:p>
            <a:pPr algn="ctr">
              <a:lnSpc>
                <a:spcPct val="17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Placement office training</a:t>
            </a:r>
            <a:endParaRPr lang="en-US" sz="2130" dirty="0"/>
          </a:p>
          <a:p>
            <a:pPr algn="ctr">
              <a:lnSpc>
                <a:spcPct val="17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rollout</a:t>
            </a:r>
            <a:endParaRPr lang="en-US" sz="2130" dirty="0"/>
          </a:p>
        </p:txBody>
      </p:sp>
      <p:sp>
        <p:nvSpPr>
          <p:cNvPr id="14" name="Shape 11"/>
          <p:cNvSpPr/>
          <p:nvPr/>
        </p:nvSpPr>
        <p:spPr>
          <a:xfrm>
            <a:off x="2370709" y="8636000"/>
            <a:ext cx="16933291" cy="4064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48789" y="8575040"/>
            <a:ext cx="17177131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70" kern="0" spc="267" dirty="0">
                <a:solidFill>
                  <a:srgbClr val="C4956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VISION</a:t>
            </a:r>
            <a:endParaRPr lang="en-US" sz="1870" dirty="0"/>
          </a:p>
        </p:txBody>
      </p:sp>
      <p:sp>
        <p:nvSpPr>
          <p:cNvPr id="16" name="Shape 13"/>
          <p:cNvSpPr/>
          <p:nvPr/>
        </p:nvSpPr>
        <p:spPr>
          <a:xfrm>
            <a:off x="3217291" y="9144000"/>
            <a:ext cx="15240000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095371" y="9083040"/>
            <a:ext cx="15483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13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become the central platform through which institutions, students, alumni, and employers collaborate throughout the academic and hiring lifecycle.</a:t>
            </a:r>
            <a:endParaRPr lang="en-US" sz="2130" dirty="0"/>
          </a:p>
        </p:txBody>
      </p:sp>
      <p:sp>
        <p:nvSpPr>
          <p:cNvPr id="18" name="Shape 15"/>
          <p:cNvSpPr/>
          <p:nvPr/>
        </p:nvSpPr>
        <p:spPr>
          <a:xfrm>
            <a:off x="7450709" y="10329291"/>
            <a:ext cx="6773291" cy="16891"/>
          </a:xfrm>
          <a:prstGeom prst="rect">
            <a:avLst/>
          </a:prstGeom>
          <a:solidFill>
            <a:srgbClr val="F5F3EF">
              <a:alpha val="617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064000" y="10498709"/>
            <a:ext cx="13546709" cy="101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42080" y="10437749"/>
            <a:ext cx="13790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7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Demo: [</a:t>
            </a:r>
            <a:r>
              <a:rPr lang="en-US" sz="2000" dirty="0" err="1">
                <a:hlinkClick r:id="rId4"/>
              </a:rPr>
              <a:t>PlacementHub</a:t>
            </a:r>
            <a:r>
              <a:rPr lang="en-US" sz="2000" dirty="0">
                <a:hlinkClick r:id="rId4"/>
              </a:rPr>
              <a:t> — Campus Placement &amp; Engagement Platform</a:t>
            </a:r>
            <a:r>
              <a:rPr lang="en-US" sz="187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]  |  Email: [sandeepjain200019@gmail.com]</a:t>
            </a:r>
            <a:endParaRPr lang="en-US" sz="1870" dirty="0"/>
          </a:p>
          <a:p>
            <a:pPr algn="ctr">
              <a:lnSpc>
                <a:spcPct val="180000"/>
              </a:lnSpc>
            </a:pPr>
            <a:r>
              <a:rPr lang="en-US" sz="187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Sandbox Environment  |  June 2026</a:t>
            </a:r>
            <a:endParaRPr lang="en-US" sz="1870" dirty="0"/>
          </a:p>
        </p:txBody>
      </p:sp>
      <p:sp>
        <p:nvSpPr>
          <p:cNvPr id="21" name="Shape 18"/>
          <p:cNvSpPr/>
          <p:nvPr/>
        </p:nvSpPr>
        <p:spPr>
          <a:xfrm>
            <a:off x="8297291" y="11599291"/>
            <a:ext cx="5080000" cy="372491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175371" y="11538331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kern="0" spc="267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PLACEMENTHUB</a:t>
            </a:r>
            <a:endParaRPr lang="en-US" sz="173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1190</Words>
  <Application>Microsoft Office PowerPoint</Application>
  <PresentationFormat>Custom</PresentationFormat>
  <Paragraphs>262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Liter</vt:lpstr>
      <vt:lpstr>Arial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未命名演示文稿</dc:title>
  <dc:subject>未命名演示文稿</dc:subject>
  <dc:creator>Kimi</dc:creator>
  <cp:lastModifiedBy>Sandeep Jain</cp:lastModifiedBy>
  <cp:revision>2</cp:revision>
  <dcterms:created xsi:type="dcterms:W3CDTF">2026-06-24T09:13:01Z</dcterms:created>
  <dcterms:modified xsi:type="dcterms:W3CDTF">2026-06-24T11:22:45Z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{"Label":"未命名演示文稿","ContentProducer":"001191110108MACG2KBH8F10000","ProduceID":"19ef8e52-83d2-82f8-8000-0000ebf9434c","ReservedCode1":"","ContentPropagator":"001191110108MACG2KBH8F20000","PropagateID":"19ef8e44-2c02-819d-8000-09d5d7930ecf","ReservedCode2":""}</vt:lpwstr>
  </property>
</Properties>
</file>